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9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158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3" name="Shape 1"/>
          <p:cNvSpPr/>
          <p:nvPr/>
        </p:nvSpPr>
        <p:spPr>
          <a:xfrm>
            <a:off x="0" y="1188720"/>
            <a:ext cx="914400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5" name="Shape 3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6" name="Shape 4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7" name="Shape 5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>
            <a:off x="0" y="3474720"/>
            <a:ext cx="914400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9" name="Shape 7"/>
          <p:cNvSpPr/>
          <p:nvPr/>
        </p:nvSpPr>
        <p:spPr>
          <a:xfrm>
            <a:off x="0" y="3931920"/>
            <a:ext cx="914400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10" name="Shape 8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11" name="Shape 9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13" name="Shape 11"/>
          <p:cNvSpPr/>
          <p:nvPr/>
        </p:nvSpPr>
        <p:spPr>
          <a:xfrm>
            <a:off x="502920" y="0"/>
            <a:ext cx="0" cy="514350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14" name="Shape 12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15" name="Shape 13"/>
          <p:cNvSpPr/>
          <p:nvPr/>
        </p:nvSpPr>
        <p:spPr>
          <a:xfrm>
            <a:off x="1508760" y="0"/>
            <a:ext cx="0" cy="514350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16" name="Shape 14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17" name="Shape 15"/>
          <p:cNvSpPr/>
          <p:nvPr/>
        </p:nvSpPr>
        <p:spPr>
          <a:xfrm>
            <a:off x="2514600" y="0"/>
            <a:ext cx="0" cy="514350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18" name="Shape 16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19" name="Shape 17"/>
          <p:cNvSpPr/>
          <p:nvPr/>
        </p:nvSpPr>
        <p:spPr>
          <a:xfrm>
            <a:off x="3520440" y="0"/>
            <a:ext cx="0" cy="514350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20" name="Shape 18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21" name="Shape 19"/>
          <p:cNvSpPr/>
          <p:nvPr/>
        </p:nvSpPr>
        <p:spPr>
          <a:xfrm>
            <a:off x="4526280" y="0"/>
            <a:ext cx="0" cy="514350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22" name="Shape 2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23" name="Shape 21"/>
          <p:cNvSpPr/>
          <p:nvPr/>
        </p:nvSpPr>
        <p:spPr>
          <a:xfrm>
            <a:off x="5532120" y="0"/>
            <a:ext cx="0" cy="514350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24" name="Shape 2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25" name="Shape 23"/>
          <p:cNvSpPr/>
          <p:nvPr/>
        </p:nvSpPr>
        <p:spPr>
          <a:xfrm>
            <a:off x="6537960" y="0"/>
            <a:ext cx="0" cy="514350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26" name="Shape 24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27" name="Shape 25"/>
          <p:cNvSpPr/>
          <p:nvPr/>
        </p:nvSpPr>
        <p:spPr>
          <a:xfrm>
            <a:off x="7543800" y="0"/>
            <a:ext cx="0" cy="514350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28" name="Shape 26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29" name="Shape 27"/>
          <p:cNvSpPr/>
          <p:nvPr/>
        </p:nvSpPr>
        <p:spPr>
          <a:xfrm>
            <a:off x="8549640" y="0"/>
            <a:ext cx="0" cy="514350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74320"/>
            <a:ext cx="3657600" cy="3657600"/>
          </a:xfrm>
          <a:prstGeom prst="ellipse">
            <a:avLst/>
          </a:prstGeom>
          <a:solidFill>
            <a:srgbClr val="003344">
              <a:alpha val="70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731520"/>
            <a:ext cx="2743200" cy="2743200"/>
          </a:xfrm>
          <a:prstGeom prst="ellipse">
            <a:avLst/>
          </a:prstGeom>
          <a:solidFill>
            <a:srgbClr val="004455">
              <a:alpha val="50000"/>
            </a:srgbClr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🌐</a:t>
            </a:r>
            <a:endParaRPr lang="en-US" sz="6000" dirty="0"/>
          </a:p>
        </p:txBody>
      </p:sp>
      <p:sp>
        <p:nvSpPr>
          <p:cNvPr id="34" name="Shape 32"/>
          <p:cNvSpPr/>
          <p:nvPr/>
        </p:nvSpPr>
        <p:spPr>
          <a:xfrm>
            <a:off x="457200" y="914400"/>
            <a:ext cx="2011680" cy="292608"/>
          </a:xfrm>
          <a:prstGeom prst="rect">
            <a:avLst/>
          </a:prstGeom>
          <a:solidFill>
            <a:srgbClr val="003344"/>
          </a:solidFill>
          <a:ln w="8890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9144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NEURAL_ORCHESTRATION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65760" y="13258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6000" dirty="0"/>
          </a:p>
        </p:txBody>
      </p:sp>
      <p:sp>
        <p:nvSpPr>
          <p:cNvPr id="37" name="Text 35"/>
          <p:cNvSpPr/>
          <p:nvPr/>
        </p:nvSpPr>
        <p:spPr>
          <a:xfrm>
            <a:off x="365760" y="20574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6000" dirty="0"/>
          </a:p>
        </p:txBody>
      </p:sp>
      <p:sp>
        <p:nvSpPr>
          <p:cNvPr id="38" name="Text 36"/>
          <p:cNvSpPr/>
          <p:nvPr/>
        </p:nvSpPr>
        <p:spPr>
          <a:xfrm>
            <a:off x="365760" y="2926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 Impact Prediction System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365760" y="3291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ML · Real-Time Monitoring · Cyberpunk Interface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C2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impactsense.vercel.app  ·  Team ImpactSense  · 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STATEMENT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Seismic Challenge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earthquake impact prediction matters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2560320" cy="1463040"/>
          </a:xfrm>
          <a:prstGeom prst="rect">
            <a:avLst/>
          </a:prstGeom>
          <a:solidFill>
            <a:srgbClr val="0D1F2D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800K+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Earthquakes recorded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worldwide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2560320" cy="1463040"/>
          </a:xfrm>
          <a:prstGeom prst="rect">
            <a:avLst/>
          </a:prstGeom>
          <a:solidFill>
            <a:srgbClr val="1A0D2D"/>
          </a:solidFill>
          <a:ln w="10160">
            <a:solidFill>
              <a:srgbClr val="E879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$280B+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9184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economic losses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seismic events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560320" cy="1463040"/>
          </a:xfrm>
          <a:prstGeom prst="rect">
            <a:avLst/>
          </a:prstGeom>
          <a:solidFill>
            <a:srgbClr val="1A0A0A"/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12648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warning window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damage prevention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80360"/>
            <a:ext cx="45720" cy="3840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90779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react AFTER the event — not before it strikes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82296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37560"/>
            <a:ext cx="45720" cy="384048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36499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platform combines ML prediction with real-time visualization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82296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794760"/>
            <a:ext cx="45720" cy="3840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82219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classification is manual, slow, and inconsistent across agencies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82296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251960"/>
            <a:ext cx="45720" cy="384048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27939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responders lack instant actionable impact severity data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PROPOSED SOLUTION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ImpactSense — AI-Powered Seismic Intelligence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solidFill>
            <a:srgbClr val="081420"/>
          </a:solidFill>
          <a:ln w="762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344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ImpactSense is an end-to-end earthquake impact prediction system that uses a Scikit-Learn ML pipeline to classify seismic alert levels (Green / Orange / Red) in real-time, paired with an immersive 3D React frontend and a secure FastAPI backend.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4160520" cy="1234440"/>
          </a:xfrm>
          <a:prstGeom prst="rect">
            <a:avLst/>
          </a:prstGeom>
          <a:solidFill>
            <a:srgbClr val="111827"/>
          </a:solidFill>
          <a:ln w="63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57400"/>
            <a:ext cx="41605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148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Prediction Engine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249631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(CDI, MMI, Magnitude, Depth, Significance) → Green / Orange / Red alert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057400"/>
            <a:ext cx="4160520" cy="1234440"/>
          </a:xfrm>
          <a:prstGeom prst="rect">
            <a:avLst/>
          </a:prstGeom>
          <a:solidFill>
            <a:srgbClr val="111827"/>
          </a:solidFill>
          <a:ln w="63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2057400"/>
            <a:ext cx="4160520" cy="54864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2148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Telemetry Globe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249631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React-Three-Fiber earth visualization with live seismic overlays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4160520" cy="1234440"/>
          </a:xfrm>
          <a:prstGeom prst="rect">
            <a:avLst/>
          </a:prstGeom>
          <a:solidFill>
            <a:srgbClr val="111827"/>
          </a:solidFill>
          <a:ln w="63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29000"/>
            <a:ext cx="416052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520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" y="386791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+ bcrypt hashing — only authorized personnel access sensitive 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429000"/>
            <a:ext cx="4160520" cy="1234440"/>
          </a:xfrm>
          <a:prstGeom prst="rect">
            <a:avLst/>
          </a:prstGeom>
          <a:solidFill>
            <a:srgbClr val="111827"/>
          </a:solidFill>
          <a:ln w="63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429000"/>
            <a:ext cx="416052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3520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Archive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10912" y="386791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tracking per user, stored in MySQL on Aiven with SSL connections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solidFill>
            <a:srgbClr val="0F1C2E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 ·  impactsense.vercel.app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TECH STACK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3840480" cy="384048"/>
          </a:xfrm>
          <a:prstGeom prst="rect">
            <a:avLst/>
          </a:prstGeom>
          <a:solidFill>
            <a:srgbClr val="002233"/>
          </a:solidFill>
          <a:ln w="889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FRONTEND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3840480" cy="438912"/>
          </a:xfrm>
          <a:prstGeom prst="rect">
            <a:avLst/>
          </a:prstGeom>
          <a:solidFill>
            <a:srgbClr val="111827"/>
          </a:solidFill>
          <a:ln w="3810">
            <a:solidFill>
              <a:srgbClr val="1E3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91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8928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dev &amp; build pipeline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157984"/>
            <a:ext cx="3840480" cy="438912"/>
          </a:xfrm>
          <a:prstGeom prst="rect">
            <a:avLst/>
          </a:prstGeom>
          <a:solidFill>
            <a:srgbClr val="1E2A3A"/>
          </a:solidFill>
          <a:ln w="3810">
            <a:solidFill>
              <a:srgbClr val="1E3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854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/ R3F / Drei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3865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interactive Earth globe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3840480" cy="438912"/>
          </a:xfrm>
          <a:prstGeom prst="rect">
            <a:avLst/>
          </a:prstGeom>
          <a:solidFill>
            <a:srgbClr val="111827"/>
          </a:solidFill>
          <a:ln w="3810">
            <a:solidFill>
              <a:srgbClr val="1E3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791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8803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rain, page transitions, gear sync overlay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145536"/>
            <a:ext cx="3840480" cy="438912"/>
          </a:xfrm>
          <a:prstGeom prst="rect">
            <a:avLst/>
          </a:prstGeom>
          <a:solidFill>
            <a:srgbClr val="1E2A3A"/>
          </a:solidFill>
          <a:ln w="3810">
            <a:solidFill>
              <a:srgbClr val="1E3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729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3741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 responsive styling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3639312"/>
            <a:ext cx="3840480" cy="438912"/>
          </a:xfrm>
          <a:prstGeom prst="rect">
            <a:avLst/>
          </a:prstGeom>
          <a:solidFill>
            <a:srgbClr val="111827"/>
          </a:solidFill>
          <a:ln w="3810">
            <a:solidFill>
              <a:srgbClr val="1E3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6667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 v7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38679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routing &amp; protected routes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4133088"/>
            <a:ext cx="3840480" cy="438912"/>
          </a:xfrm>
          <a:prstGeom prst="rect">
            <a:avLst/>
          </a:prstGeom>
          <a:solidFill>
            <a:srgbClr val="1E2A3A"/>
          </a:solidFill>
          <a:ln w="3810">
            <a:solidFill>
              <a:srgbClr val="1E3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160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43616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for API calls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46320" y="1188720"/>
            <a:ext cx="3840480" cy="384048"/>
          </a:xfrm>
          <a:prstGeom prst="rect">
            <a:avLst/>
          </a:prstGeom>
          <a:solidFill>
            <a:srgbClr val="220033"/>
          </a:solidFill>
          <a:ln w="8890">
            <a:solidFill>
              <a:srgbClr val="E879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188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BACKEND + ML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1664208"/>
            <a:ext cx="3840480" cy="438912"/>
          </a:xfrm>
          <a:prstGeom prst="rect">
            <a:avLst/>
          </a:prstGeom>
          <a:solidFill>
            <a:srgbClr val="111827"/>
          </a:solidFill>
          <a:ln w="3810">
            <a:solidFill>
              <a:srgbClr val="2D1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1691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18928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async REST API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46320" y="2157984"/>
            <a:ext cx="3840480" cy="438912"/>
          </a:xfrm>
          <a:prstGeom prst="rect">
            <a:avLst/>
          </a:prstGeom>
          <a:solidFill>
            <a:srgbClr val="1E2A3A"/>
          </a:solidFill>
          <a:ln w="3810">
            <a:solidFill>
              <a:srgbClr val="2D1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1854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83480" y="23865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pipeline: alert level classification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46320" y="2651760"/>
            <a:ext cx="3840480" cy="438912"/>
          </a:xfrm>
          <a:prstGeom prst="rect">
            <a:avLst/>
          </a:prstGeom>
          <a:solidFill>
            <a:srgbClr val="111827"/>
          </a:solidFill>
          <a:ln w="3810">
            <a:solidFill>
              <a:srgbClr val="2D1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6791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on Aiven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83480" y="28803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SSL-secured cloud database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46320" y="3145536"/>
            <a:ext cx="3840480" cy="438912"/>
          </a:xfrm>
          <a:prstGeom prst="rect">
            <a:avLst/>
          </a:prstGeom>
          <a:solidFill>
            <a:srgbClr val="1E2A3A"/>
          </a:solidFill>
          <a:ln w="3810">
            <a:solidFill>
              <a:srgbClr val="2D1A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1729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PyJWT + Passlib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83480" y="33741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&amp; bcrypt password hashing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46320" y="3639312"/>
            <a:ext cx="3840480" cy="438912"/>
          </a:xfrm>
          <a:prstGeom prst="rect">
            <a:avLst/>
          </a:prstGeom>
          <a:solidFill>
            <a:srgbClr val="111827"/>
          </a:solidFill>
          <a:ln w="3810">
            <a:solidFill>
              <a:srgbClr val="2D1A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6667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Joblib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83480" y="38679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&amp; model serialization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846320" y="4133088"/>
            <a:ext cx="3840480" cy="438912"/>
          </a:xfrm>
          <a:prstGeom prst="rect">
            <a:avLst/>
          </a:prstGeom>
          <a:solidFill>
            <a:srgbClr val="1E2A3A"/>
          </a:solidFill>
          <a:ln w="3810">
            <a:solidFill>
              <a:srgbClr val="2D1A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4160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Render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83480" y="43616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backend deployment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WORKFLOW DIAGRAM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2148840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38528" y="2103120"/>
            <a:ext cx="109728" cy="9144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25880"/>
            <a:ext cx="1463040" cy="1645920"/>
          </a:xfrm>
          <a:prstGeom prst="rect">
            <a:avLst/>
          </a:prstGeom>
          <a:solidFill>
            <a:srgbClr val="111827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25880"/>
            <a:ext cx="146304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1435608"/>
            <a:ext cx="512064" cy="51206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435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9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2020824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2331720"/>
            <a:ext cx="1316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 · MMI · Magnitude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· Significance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11296" y="2148840"/>
            <a:ext cx="182880" cy="0"/>
          </a:xfrm>
          <a:prstGeom prst="line">
            <a:avLst/>
          </a:prstGeom>
          <a:noFill/>
          <a:ln w="19050">
            <a:solidFill>
              <a:srgbClr val="E879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02736" y="2103120"/>
            <a:ext cx="109728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29968" y="1325880"/>
            <a:ext cx="1463040" cy="1645920"/>
          </a:xfrm>
          <a:prstGeom prst="rect">
            <a:avLst/>
          </a:prstGeom>
          <a:solidFill>
            <a:srgbClr val="111827"/>
          </a:solidFill>
          <a:ln w="10160">
            <a:solidFill>
              <a:srgbClr val="E879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29968" y="1325880"/>
            <a:ext cx="1463040" cy="54864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05456" y="1435608"/>
            <a:ext cx="512064" cy="512064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05456" y="1435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9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2020824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2331720"/>
            <a:ext cx="1316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payload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ML engine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175504" y="2148840"/>
            <a:ext cx="18288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66944" y="2103120"/>
            <a:ext cx="109728" cy="9144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94176" y="1325880"/>
            <a:ext cx="1463040" cy="1645920"/>
          </a:xfrm>
          <a:prstGeom prst="rect">
            <a:avLst/>
          </a:prstGeom>
          <a:solidFill>
            <a:srgbClr val="111827"/>
          </a:solidFill>
          <a:ln w="10160">
            <a:solidFill>
              <a:srgbClr val="4ADE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94176" y="1325880"/>
            <a:ext cx="146304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69664" y="1435608"/>
            <a:ext cx="512064" cy="51206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9664" y="1435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9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67328" y="2020824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67328" y="2331720"/>
            <a:ext cx="1316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→ Model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Alert Encoder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39712" y="2148840"/>
            <a:ext cx="182880" cy="0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31152" y="2103120"/>
            <a:ext cx="109728" cy="914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58384" y="1325880"/>
            <a:ext cx="1463040" cy="1645920"/>
          </a:xfrm>
          <a:prstGeom prst="rect">
            <a:avLst/>
          </a:prstGeom>
          <a:solidFill>
            <a:srgbClr val="111827"/>
          </a:solidFill>
          <a:ln w="10160">
            <a:solidFill>
              <a:srgbClr val="FACC1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58384" y="1325880"/>
            <a:ext cx="146304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33872" y="1435608"/>
            <a:ext cx="512064" cy="512064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33872" y="1435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9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31536" y="2020824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Override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31536" y="2331720"/>
            <a:ext cx="1316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rules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extreme events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022592" y="1325880"/>
            <a:ext cx="1463040" cy="1645920"/>
          </a:xfrm>
          <a:prstGeom prst="rect">
            <a:avLst/>
          </a:prstGeom>
          <a:solidFill>
            <a:srgbClr val="111827"/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22592" y="1325880"/>
            <a:ext cx="146304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0" y="1435608"/>
            <a:ext cx="512064" cy="5120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0" y="1435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9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095744" y="2020824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Result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095744" y="2331720"/>
            <a:ext cx="1316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/ ORANGE / RED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to client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7200" y="3246120"/>
            <a:ext cx="3977640" cy="777240"/>
          </a:xfrm>
          <a:prstGeom prst="rect">
            <a:avLst/>
          </a:prstGeom>
          <a:solidFill>
            <a:srgbClr val="0A1520"/>
          </a:solidFill>
          <a:ln w="6350">
            <a:solidFill>
              <a:srgbClr val="0891B2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594360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 Flow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4360" y="35844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→ Hash password (bcrypt) → Login → JWT token → Attach Bearer header → Access protected /history endpoint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09160" y="3246120"/>
            <a:ext cx="3977640" cy="777240"/>
          </a:xfrm>
          <a:prstGeom prst="rect">
            <a:avLst/>
          </a:prstGeom>
          <a:solidFill>
            <a:srgbClr val="0A1520"/>
          </a:solidFill>
          <a:ln w="6350">
            <a:solidFill>
              <a:srgbClr val="E879F9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4846320" y="3310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 Persistence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46320" y="35844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predictions → INSERT into MySQL predictions table → User retrieves history via /api/history (JWT required)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FEASIBILITY &amp; VIABILITY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347472"/>
          </a:xfrm>
          <a:prstGeom prst="rect">
            <a:avLst/>
          </a:prstGeom>
          <a:solidFill>
            <a:srgbClr val="001A22"/>
          </a:solidFill>
          <a:ln w="889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TECHNICAL FEASIBILITY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Scikit-Learn pipeline fully trained &amp; serialized (Joblib .pkl)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1975104"/>
            <a:ext cx="356616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57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FastAPI deployed on Render — real-time predictions &lt; 200ms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404872"/>
            <a:ext cx="356616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871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MySQL on Aiven — SSL-secured, production-grade cloud DB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834640"/>
            <a:ext cx="356616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169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React 19 frontend live on Vercel with CDN delivery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264408"/>
            <a:ext cx="356616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467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Safety override layer handles edge cases beyond ML confidence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3694176"/>
            <a:ext cx="356616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764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JWT auth with 7-day token expiry — stateless &amp; scalable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3931920" cy="347472"/>
          </a:xfrm>
          <a:prstGeom prst="rect">
            <a:avLst/>
          </a:prstGeom>
          <a:solidFill>
            <a:srgbClr val="1A0022"/>
          </a:solidFill>
          <a:ln w="8890">
            <a:solidFill>
              <a:srgbClr val="E879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1887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MARKET VIABILITY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627632"/>
            <a:ext cx="393192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627632"/>
            <a:ext cx="45720" cy="713232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6824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Emergency Agencies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193852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 dashboards for crisis teams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432304"/>
            <a:ext cx="393192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432304"/>
            <a:ext cx="45720" cy="713232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4871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&amp; Re-Insurance Firms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for seismic zone underwriting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236976"/>
            <a:ext cx="393192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236976"/>
            <a:ext cx="45720" cy="713232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2918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Companies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5478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Pre-emptive grid shutdowns &amp; asset protection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4041648"/>
            <a:ext cx="393192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4041648"/>
            <a:ext cx="45720" cy="713232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0965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Planning Authorities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37760" y="435254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code enforcement in high-risk zones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IMPACT &amp; BENEFITS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2651760" cy="1554480"/>
          </a:xfrm>
          <a:prstGeom prst="rect">
            <a:avLst/>
          </a:prstGeom>
          <a:solidFill>
            <a:srgbClr val="111827"/>
          </a:solidFill>
          <a:ln w="63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2651760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" y="18379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Emergency Response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14884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matter in a disaster. ImpactSense delivers instant ML-powered alert classification, cutting manual assessment time from hours to milliseconds.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91840" y="1234440"/>
            <a:ext cx="2651760" cy="1554480"/>
          </a:xfrm>
          <a:prstGeom prst="rect">
            <a:avLst/>
          </a:prstGeom>
          <a:solidFill>
            <a:srgbClr val="111827"/>
          </a:solidFill>
          <a:ln w="63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234440"/>
            <a:ext cx="265176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01568" y="18379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Risk Intelligence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01568" y="214884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CDI, MMI, magnitude, depth, and significance are fused into a unified neural prediction — far more reliable than single-metric thresholds.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26480" y="1234440"/>
            <a:ext cx="2651760" cy="1554480"/>
          </a:xfrm>
          <a:prstGeom prst="rect">
            <a:avLst/>
          </a:prstGeom>
          <a:solidFill>
            <a:srgbClr val="111827"/>
          </a:solidFill>
          <a:ln w="63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234440"/>
            <a:ext cx="265176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36208" y="18379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Seismic Awareness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36208" y="214884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immersive 3D Earth globe gives real-time spatial context to any seismic event — actionable situational awareness at a glance.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2651760" cy="1554480"/>
          </a:xfrm>
          <a:prstGeom prst="rect">
            <a:avLst/>
          </a:prstGeom>
          <a:solidFill>
            <a:srgbClr val="111827"/>
          </a:solidFill>
          <a:ln w="63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926080"/>
            <a:ext cx="2651760" cy="4572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66928" y="352958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Pattern Mining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384048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archives let researchers and agencies identify recurring seismic patterns and refine response playbooks over time.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91840" y="2926080"/>
            <a:ext cx="2651760" cy="1554480"/>
          </a:xfrm>
          <a:prstGeom prst="rect">
            <a:avLst/>
          </a:prstGeom>
          <a:solidFill>
            <a:srgbClr val="111827"/>
          </a:solidFill>
          <a:ln w="63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2926080"/>
            <a:ext cx="2651760" cy="4572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401568" y="352958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 Governance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01568" y="384048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bcrypt encryption ensures only authorized personnel access sensitive prediction data and mission-critical records.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26480" y="2926080"/>
            <a:ext cx="2651760" cy="1554480"/>
          </a:xfrm>
          <a:prstGeom prst="rect">
            <a:avLst/>
          </a:prstGeom>
          <a:solidFill>
            <a:srgbClr val="111827"/>
          </a:solidFill>
          <a:ln w="63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926080"/>
            <a:ext cx="2651760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236208" y="352958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Architecture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36208" y="384048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 modular design enables rapid integration of new ML models, live USGS feeds, and multi-region dashboards.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 - Weeks 1-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IMPLEMENTATION — WEEKLY TASKS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38912" y="30267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Weeks 1–4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Header WEEK"/>
          <p:cNvSpPr/>
          <p:nvPr/>
        </p:nvSpPr>
        <p:spPr>
          <a:xfrm>
            <a:off x="347472" y="1051314"/>
            <a:ext cx="960120" cy="278686"/>
          </a:xfrm>
          <a:prstGeom prst="rect">
            <a:avLst/>
          </a:prstGeom>
          <a:solidFill>
            <a:srgbClr val="001520"/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7" name="Header WEEK bar"/>
          <p:cNvSpPr/>
          <p:nvPr/>
        </p:nvSpPr>
        <p:spPr>
          <a:xfrm flipV="1">
            <a:off x="347472" y="1097280"/>
            <a:ext cx="960120" cy="52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 WEEK"/>
          <p:cNvSpPr/>
          <p:nvPr/>
        </p:nvSpPr>
        <p:spPr>
          <a:xfrm>
            <a:off x="420624" y="1150000"/>
            <a:ext cx="86868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900" dirty="0"/>
          </a:p>
        </p:txBody>
      </p:sp>
      <p:sp>
        <p:nvSpPr>
          <p:cNvPr id="9" name="Header TASK"/>
          <p:cNvSpPr/>
          <p:nvPr/>
        </p:nvSpPr>
        <p:spPr>
          <a:xfrm>
            <a:off x="1307592" y="1051314"/>
            <a:ext cx="1572768" cy="278686"/>
          </a:xfrm>
          <a:prstGeom prst="rect">
            <a:avLst/>
          </a:prstGeom>
          <a:solidFill>
            <a:srgbClr val="001520"/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10" name="Header TASK bar"/>
          <p:cNvSpPr/>
          <p:nvPr/>
        </p:nvSpPr>
        <p:spPr>
          <a:xfrm>
            <a:off x="1325880" y="1094421"/>
            <a:ext cx="1572768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 TASK"/>
          <p:cNvSpPr/>
          <p:nvPr/>
        </p:nvSpPr>
        <p:spPr>
          <a:xfrm>
            <a:off x="1335024" y="1087369"/>
            <a:ext cx="1545336" cy="278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00" dirty="0"/>
          </a:p>
        </p:txBody>
      </p:sp>
      <p:sp>
        <p:nvSpPr>
          <p:cNvPr id="12" name="Header OUTCOME"/>
          <p:cNvSpPr/>
          <p:nvPr/>
        </p:nvSpPr>
        <p:spPr>
          <a:xfrm>
            <a:off x="2880360" y="1059793"/>
            <a:ext cx="5852160" cy="270207"/>
          </a:xfrm>
          <a:prstGeom prst="rect">
            <a:avLst/>
          </a:prstGeom>
          <a:solidFill>
            <a:srgbClr val="001520"/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13" name="Header OUTCOME bar"/>
          <p:cNvSpPr/>
          <p:nvPr/>
        </p:nvSpPr>
        <p:spPr>
          <a:xfrm>
            <a:off x="2871216" y="1094421"/>
            <a:ext cx="585216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 OUTCOME"/>
          <p:cNvSpPr/>
          <p:nvPr/>
        </p:nvSpPr>
        <p:spPr>
          <a:xfrm>
            <a:off x="2935224" y="1075593"/>
            <a:ext cx="5760720" cy="278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00" dirty="0"/>
          </a:p>
        </p:txBody>
      </p:sp>
      <p:sp>
        <p:nvSpPr>
          <p:cNvPr id="20" name="S20"/>
          <p:cNvSpPr/>
          <p:nvPr/>
        </p:nvSpPr>
        <p:spPr>
          <a:xfrm>
            <a:off x="347472" y="1349999"/>
            <a:ext cx="960120" cy="787637"/>
          </a:xfrm>
          <a:prstGeom prst="rect">
            <a:avLst/>
          </a:prstGeom>
          <a:solidFill>
            <a:srgbClr val="111827"/>
          </a:solidFill>
          <a:ln w="5080">
            <a:solidFill>
              <a:srgbClr val="1E3040"/>
            </a:solidFill>
            <a:prstDash val="solid"/>
          </a:ln>
        </p:spPr>
      </p:sp>
      <p:sp>
        <p:nvSpPr>
          <p:cNvPr id="21" name="S21"/>
          <p:cNvSpPr/>
          <p:nvPr/>
        </p:nvSpPr>
        <p:spPr>
          <a:xfrm>
            <a:off x="347472" y="1350000"/>
            <a:ext cx="45720" cy="620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22"/>
          <p:cNvSpPr/>
          <p:nvPr/>
        </p:nvSpPr>
        <p:spPr>
          <a:xfrm>
            <a:off x="438912" y="1350000"/>
            <a:ext cx="850392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50" dirty="0"/>
          </a:p>
        </p:txBody>
      </p:sp>
      <p:sp>
        <p:nvSpPr>
          <p:cNvPr id="23" name="S23"/>
          <p:cNvSpPr/>
          <p:nvPr/>
        </p:nvSpPr>
        <p:spPr>
          <a:xfrm>
            <a:off x="1307592" y="1350000"/>
            <a:ext cx="1572768" cy="764534"/>
          </a:xfrm>
          <a:prstGeom prst="rect">
            <a:avLst/>
          </a:prstGeom>
          <a:solidFill>
            <a:srgbClr val="111827"/>
          </a:solidFill>
          <a:ln w="5080">
            <a:solidFill>
              <a:srgbClr val="1E3040"/>
            </a:solidFill>
            <a:prstDash val="solid"/>
          </a:ln>
        </p:spPr>
      </p:sp>
      <p:sp>
        <p:nvSpPr>
          <p:cNvPr id="24" name="T24"/>
          <p:cNvSpPr/>
          <p:nvPr/>
        </p:nvSpPr>
        <p:spPr>
          <a:xfrm>
            <a:off x="1399032" y="1377575"/>
            <a:ext cx="1444752" cy="682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 &amp;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Understanding</a:t>
            </a:r>
            <a:endParaRPr lang="en-US" sz="1000" dirty="0"/>
          </a:p>
        </p:txBody>
      </p:sp>
      <p:sp>
        <p:nvSpPr>
          <p:cNvPr id="25" name="S25"/>
          <p:cNvSpPr/>
          <p:nvPr/>
        </p:nvSpPr>
        <p:spPr>
          <a:xfrm>
            <a:off x="2880360" y="1349999"/>
            <a:ext cx="5852160" cy="696055"/>
          </a:xfrm>
          <a:prstGeom prst="rect">
            <a:avLst/>
          </a:prstGeom>
          <a:solidFill>
            <a:srgbClr val="111827"/>
          </a:solidFill>
          <a:ln w="5080">
            <a:solidFill>
              <a:srgbClr val="1E3040"/>
            </a:solidFill>
            <a:prstDash val="solid"/>
          </a:ln>
        </p:spPr>
      </p:sp>
      <p:sp>
        <p:nvSpPr>
          <p:cNvPr id="26" name="T26"/>
          <p:cNvSpPr/>
          <p:nvPr/>
        </p:nvSpPr>
        <p:spPr>
          <a:xfrm>
            <a:off x="2990088" y="1377576"/>
            <a:ext cx="5687568" cy="564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earthquake dataset from Kaggle and loaded into Jupyter Notebook. Explored and visualized dataset features including magnitude, depth, CDI, MMI, and significance.</a:t>
            </a:r>
            <a:endParaRPr lang="en-US" sz="1100" dirty="0"/>
          </a:p>
        </p:txBody>
      </p:sp>
      <p:sp>
        <p:nvSpPr>
          <p:cNvPr id="27" name="S27"/>
          <p:cNvSpPr/>
          <p:nvPr/>
        </p:nvSpPr>
        <p:spPr>
          <a:xfrm>
            <a:off x="423046" y="2042576"/>
            <a:ext cx="930266" cy="903211"/>
          </a:xfrm>
          <a:prstGeom prst="rect">
            <a:avLst/>
          </a:prstGeom>
          <a:solidFill>
            <a:srgbClr val="1E2A3A"/>
          </a:solidFill>
          <a:ln w="5080">
            <a:solidFill>
              <a:srgbClr val="1E3040"/>
            </a:solidFill>
            <a:prstDash val="solid"/>
          </a:ln>
        </p:spPr>
      </p:sp>
      <p:sp>
        <p:nvSpPr>
          <p:cNvPr id="28" name="S28"/>
          <p:cNvSpPr/>
          <p:nvPr/>
        </p:nvSpPr>
        <p:spPr>
          <a:xfrm>
            <a:off x="365759" y="2010000"/>
            <a:ext cx="45720" cy="886182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9" name="T29"/>
          <p:cNvSpPr/>
          <p:nvPr/>
        </p:nvSpPr>
        <p:spPr>
          <a:xfrm>
            <a:off x="464195" y="2100594"/>
            <a:ext cx="850392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50" dirty="0"/>
          </a:p>
        </p:txBody>
      </p:sp>
      <p:sp>
        <p:nvSpPr>
          <p:cNvPr id="30" name="S30"/>
          <p:cNvSpPr/>
          <p:nvPr/>
        </p:nvSpPr>
        <p:spPr>
          <a:xfrm>
            <a:off x="1307592" y="2053125"/>
            <a:ext cx="1572768" cy="820571"/>
          </a:xfrm>
          <a:prstGeom prst="rect">
            <a:avLst/>
          </a:prstGeom>
          <a:solidFill>
            <a:srgbClr val="1E2A3A"/>
          </a:solidFill>
          <a:ln w="5080">
            <a:solidFill>
              <a:srgbClr val="1E3040"/>
            </a:solidFill>
            <a:prstDash val="solid"/>
          </a:ln>
        </p:spPr>
      </p:sp>
      <p:sp>
        <p:nvSpPr>
          <p:cNvPr id="31" name="T31"/>
          <p:cNvSpPr/>
          <p:nvPr/>
        </p:nvSpPr>
        <p:spPr>
          <a:xfrm>
            <a:off x="1399032" y="2042576"/>
            <a:ext cx="1444752" cy="83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32" name="S32"/>
          <p:cNvSpPr/>
          <p:nvPr/>
        </p:nvSpPr>
        <p:spPr>
          <a:xfrm>
            <a:off x="2889504" y="2068537"/>
            <a:ext cx="5852160" cy="813917"/>
          </a:xfrm>
          <a:prstGeom prst="rect">
            <a:avLst/>
          </a:prstGeom>
          <a:solidFill>
            <a:srgbClr val="1E2A3A"/>
          </a:solidFill>
          <a:ln w="5080">
            <a:solidFill>
              <a:srgbClr val="1E3040"/>
            </a:solidFill>
            <a:prstDash val="solid"/>
          </a:ln>
        </p:spPr>
      </p:sp>
      <p:sp>
        <p:nvSpPr>
          <p:cNvPr id="33" name="T33"/>
          <p:cNvSpPr/>
          <p:nvPr/>
        </p:nvSpPr>
        <p:spPr>
          <a:xfrm>
            <a:off x="3008376" y="2187756"/>
            <a:ext cx="5687568" cy="564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prepared seismic data for model training. Normalized numerical values and selected input features (cdi, mmi, significance, magnitude, depth) for alert prediction.</a:t>
            </a:r>
            <a:endParaRPr lang="en-US" sz="1100" dirty="0"/>
          </a:p>
        </p:txBody>
      </p:sp>
      <p:sp>
        <p:nvSpPr>
          <p:cNvPr id="34" name="S34"/>
          <p:cNvSpPr/>
          <p:nvPr/>
        </p:nvSpPr>
        <p:spPr>
          <a:xfrm>
            <a:off x="384048" y="2873697"/>
            <a:ext cx="960120" cy="872607"/>
          </a:xfrm>
          <a:prstGeom prst="rect">
            <a:avLst/>
          </a:prstGeom>
          <a:solidFill>
            <a:srgbClr val="111827"/>
          </a:solidFill>
          <a:ln w="5080">
            <a:solidFill>
              <a:srgbClr val="1E3040"/>
            </a:solidFill>
            <a:prstDash val="solid"/>
          </a:ln>
        </p:spPr>
      </p:sp>
      <p:sp>
        <p:nvSpPr>
          <p:cNvPr id="35" name="S35"/>
          <p:cNvSpPr/>
          <p:nvPr/>
        </p:nvSpPr>
        <p:spPr>
          <a:xfrm>
            <a:off x="365760" y="2896182"/>
            <a:ext cx="50291" cy="872607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6" name="T36"/>
          <p:cNvSpPr/>
          <p:nvPr/>
        </p:nvSpPr>
        <p:spPr>
          <a:xfrm>
            <a:off x="466344" y="3020000"/>
            <a:ext cx="850392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50" dirty="0"/>
          </a:p>
        </p:txBody>
      </p:sp>
      <p:sp>
        <p:nvSpPr>
          <p:cNvPr id="37" name="S37"/>
          <p:cNvSpPr/>
          <p:nvPr/>
        </p:nvSpPr>
        <p:spPr>
          <a:xfrm>
            <a:off x="1362456" y="2896182"/>
            <a:ext cx="1572768" cy="890120"/>
          </a:xfrm>
          <a:prstGeom prst="rect">
            <a:avLst/>
          </a:prstGeom>
          <a:solidFill>
            <a:srgbClr val="111827"/>
          </a:solidFill>
          <a:ln w="5080">
            <a:solidFill>
              <a:srgbClr val="1E3040"/>
            </a:solidFill>
            <a:prstDash val="solid"/>
          </a:ln>
        </p:spPr>
      </p:sp>
      <p:sp>
        <p:nvSpPr>
          <p:cNvPr id="38" name="T38"/>
          <p:cNvSpPr/>
          <p:nvPr/>
        </p:nvSpPr>
        <p:spPr>
          <a:xfrm>
            <a:off x="1446326" y="3074267"/>
            <a:ext cx="1444752" cy="564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</p:txBody>
      </p:sp>
      <p:sp>
        <p:nvSpPr>
          <p:cNvPr id="39" name="S39"/>
          <p:cNvSpPr/>
          <p:nvPr/>
        </p:nvSpPr>
        <p:spPr>
          <a:xfrm>
            <a:off x="2880360" y="2896180"/>
            <a:ext cx="5852160" cy="872609"/>
          </a:xfrm>
          <a:prstGeom prst="rect">
            <a:avLst/>
          </a:prstGeom>
          <a:solidFill>
            <a:srgbClr val="111827"/>
          </a:solidFill>
          <a:ln w="5080">
            <a:solidFill>
              <a:srgbClr val="1E3040"/>
            </a:solidFill>
            <a:prstDash val="solid"/>
          </a:ln>
        </p:spPr>
      </p:sp>
      <p:sp>
        <p:nvSpPr>
          <p:cNvPr id="40" name="T40"/>
          <p:cNvSpPr/>
          <p:nvPr/>
        </p:nvSpPr>
        <p:spPr>
          <a:xfrm>
            <a:off x="3008376" y="3047576"/>
            <a:ext cx="5687568" cy="564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baseline models including Logistic Regression and Decision Tree. Evaluated initial performance using accuracy and basic metrics to establish benchmark results.</a:t>
            </a:r>
            <a:endParaRPr lang="en-US" sz="1200" dirty="0"/>
          </a:p>
        </p:txBody>
      </p:sp>
      <p:sp>
        <p:nvSpPr>
          <p:cNvPr id="41" name="S41"/>
          <p:cNvSpPr/>
          <p:nvPr/>
        </p:nvSpPr>
        <p:spPr>
          <a:xfrm>
            <a:off x="356616" y="3786304"/>
            <a:ext cx="996696" cy="787637"/>
          </a:xfrm>
          <a:prstGeom prst="rect">
            <a:avLst/>
          </a:prstGeom>
          <a:solidFill>
            <a:srgbClr val="1E2A3A"/>
          </a:solidFill>
          <a:ln w="5080">
            <a:solidFill>
              <a:srgbClr val="1E3040"/>
            </a:solidFill>
            <a:prstDash val="solid"/>
          </a:ln>
        </p:spPr>
      </p:sp>
      <p:sp>
        <p:nvSpPr>
          <p:cNvPr id="42" name="S42"/>
          <p:cNvSpPr/>
          <p:nvPr/>
        </p:nvSpPr>
        <p:spPr>
          <a:xfrm>
            <a:off x="365760" y="3753939"/>
            <a:ext cx="45719" cy="832848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43" name="T43"/>
          <p:cNvSpPr/>
          <p:nvPr/>
        </p:nvSpPr>
        <p:spPr>
          <a:xfrm>
            <a:off x="438912" y="3694266"/>
            <a:ext cx="877824" cy="87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50" dirty="0"/>
          </a:p>
        </p:txBody>
      </p:sp>
      <p:sp>
        <p:nvSpPr>
          <p:cNvPr id="44" name="S44"/>
          <p:cNvSpPr/>
          <p:nvPr/>
        </p:nvSpPr>
        <p:spPr>
          <a:xfrm>
            <a:off x="1371600" y="3770121"/>
            <a:ext cx="1517904" cy="796754"/>
          </a:xfrm>
          <a:prstGeom prst="rect">
            <a:avLst/>
          </a:prstGeom>
          <a:solidFill>
            <a:srgbClr val="1E2A3A"/>
          </a:solidFill>
          <a:ln w="5080">
            <a:solidFill>
              <a:srgbClr val="1E3040"/>
            </a:solidFill>
            <a:prstDash val="solid"/>
          </a:ln>
        </p:spPr>
      </p:sp>
      <p:sp>
        <p:nvSpPr>
          <p:cNvPr id="45" name="T45"/>
          <p:cNvSpPr/>
          <p:nvPr/>
        </p:nvSpPr>
        <p:spPr>
          <a:xfrm>
            <a:off x="1353312" y="3786303"/>
            <a:ext cx="1490472" cy="787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Advanced Model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Training</a:t>
            </a:r>
            <a:endParaRPr lang="en-US" sz="1000" dirty="0"/>
          </a:p>
        </p:txBody>
      </p:sp>
      <p:sp>
        <p:nvSpPr>
          <p:cNvPr id="46" name="S46"/>
          <p:cNvSpPr/>
          <p:nvPr/>
        </p:nvSpPr>
        <p:spPr>
          <a:xfrm>
            <a:off x="2880360" y="3753938"/>
            <a:ext cx="5852160" cy="812936"/>
          </a:xfrm>
          <a:prstGeom prst="rect">
            <a:avLst/>
          </a:prstGeom>
          <a:solidFill>
            <a:srgbClr val="1E2A3A"/>
          </a:solidFill>
          <a:ln w="5080">
            <a:solidFill>
              <a:srgbClr val="1E3040"/>
            </a:solidFill>
            <a:prstDash val="solid"/>
          </a:ln>
        </p:spPr>
      </p:sp>
      <p:sp>
        <p:nvSpPr>
          <p:cNvPr id="47" name="T47"/>
          <p:cNvSpPr/>
          <p:nvPr/>
        </p:nvSpPr>
        <p:spPr>
          <a:xfrm>
            <a:off x="2990088" y="3877982"/>
            <a:ext cx="5687568" cy="564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Random Forest and Gradient Boosting models. Performed hyperparameter tuning and cross-validation. Achieved improved model accuracy (~95%).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b - Weeks 5-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IMPLEMENTATION — WEEKLY TASKS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38912" y="29704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Weeks 5–8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Header WEEK"/>
          <p:cNvSpPr/>
          <p:nvPr/>
        </p:nvSpPr>
        <p:spPr>
          <a:xfrm>
            <a:off x="347472" y="1078992"/>
            <a:ext cx="960120" cy="251008"/>
          </a:xfrm>
          <a:prstGeom prst="rect">
            <a:avLst/>
          </a:prstGeom>
          <a:solidFill>
            <a:srgbClr val="001520"/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7" name="Header WEEK bar"/>
          <p:cNvSpPr/>
          <p:nvPr/>
        </p:nvSpPr>
        <p:spPr>
          <a:xfrm>
            <a:off x="347472" y="1094280"/>
            <a:ext cx="96012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 WEEK"/>
          <p:cNvSpPr/>
          <p:nvPr/>
        </p:nvSpPr>
        <p:spPr>
          <a:xfrm>
            <a:off x="420624" y="1150000"/>
            <a:ext cx="86868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900" dirty="0"/>
          </a:p>
        </p:txBody>
      </p:sp>
      <p:sp>
        <p:nvSpPr>
          <p:cNvPr id="9" name="Header TASK"/>
          <p:cNvSpPr/>
          <p:nvPr/>
        </p:nvSpPr>
        <p:spPr>
          <a:xfrm>
            <a:off x="1307592" y="1078992"/>
            <a:ext cx="1572768" cy="263312"/>
          </a:xfrm>
          <a:prstGeom prst="rect">
            <a:avLst/>
          </a:prstGeom>
          <a:solidFill>
            <a:srgbClr val="001520"/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10" name="Header TASK bar"/>
          <p:cNvSpPr/>
          <p:nvPr/>
        </p:nvSpPr>
        <p:spPr>
          <a:xfrm>
            <a:off x="1307592" y="1094280"/>
            <a:ext cx="1572768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 TASK"/>
          <p:cNvSpPr/>
          <p:nvPr/>
        </p:nvSpPr>
        <p:spPr>
          <a:xfrm>
            <a:off x="2139696" y="2072746"/>
            <a:ext cx="1554480" cy="280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00" dirty="0"/>
          </a:p>
        </p:txBody>
      </p:sp>
      <p:sp>
        <p:nvSpPr>
          <p:cNvPr id="12" name="Header OUTCOME"/>
          <p:cNvSpPr/>
          <p:nvPr/>
        </p:nvSpPr>
        <p:spPr>
          <a:xfrm>
            <a:off x="2880360" y="1078992"/>
            <a:ext cx="5852160" cy="251008"/>
          </a:xfrm>
          <a:prstGeom prst="rect">
            <a:avLst/>
          </a:prstGeom>
          <a:solidFill>
            <a:srgbClr val="001520"/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13" name="Header OUTCOME bar"/>
          <p:cNvSpPr/>
          <p:nvPr/>
        </p:nvSpPr>
        <p:spPr>
          <a:xfrm>
            <a:off x="2892229" y="1096415"/>
            <a:ext cx="585216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 OUTCOME"/>
          <p:cNvSpPr/>
          <p:nvPr/>
        </p:nvSpPr>
        <p:spPr>
          <a:xfrm>
            <a:off x="2953512" y="1150000"/>
            <a:ext cx="576072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00" dirty="0">
              <a:solidFill>
                <a:srgbClr val="00FFFF"/>
              </a:solidFill>
            </a:endParaRPr>
          </a:p>
        </p:txBody>
      </p:sp>
      <p:sp>
        <p:nvSpPr>
          <p:cNvPr id="20" name="S20"/>
          <p:cNvSpPr/>
          <p:nvPr/>
        </p:nvSpPr>
        <p:spPr>
          <a:xfrm>
            <a:off x="347472" y="1350000"/>
            <a:ext cx="960120" cy="727712"/>
          </a:xfrm>
          <a:prstGeom prst="rect">
            <a:avLst/>
          </a:prstGeom>
          <a:solidFill>
            <a:srgbClr val="111827"/>
          </a:solidFill>
          <a:ln w="5080">
            <a:solidFill>
              <a:srgbClr val="1E3040"/>
            </a:solidFill>
            <a:prstDash val="solid"/>
          </a:ln>
        </p:spPr>
      </p:sp>
      <p:sp>
        <p:nvSpPr>
          <p:cNvPr id="21" name="S21"/>
          <p:cNvSpPr/>
          <p:nvPr/>
        </p:nvSpPr>
        <p:spPr>
          <a:xfrm>
            <a:off x="347472" y="1350000"/>
            <a:ext cx="45719" cy="7354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22"/>
          <p:cNvSpPr/>
          <p:nvPr/>
        </p:nvSpPr>
        <p:spPr>
          <a:xfrm>
            <a:off x="438912" y="1350000"/>
            <a:ext cx="850392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050" dirty="0"/>
          </a:p>
        </p:txBody>
      </p:sp>
      <p:sp>
        <p:nvSpPr>
          <p:cNvPr id="23" name="S23"/>
          <p:cNvSpPr/>
          <p:nvPr/>
        </p:nvSpPr>
        <p:spPr>
          <a:xfrm>
            <a:off x="1307592" y="1350000"/>
            <a:ext cx="1572768" cy="720404"/>
          </a:xfrm>
          <a:prstGeom prst="rect">
            <a:avLst/>
          </a:prstGeom>
          <a:solidFill>
            <a:srgbClr val="111827"/>
          </a:solidFill>
          <a:ln w="5080">
            <a:solidFill>
              <a:srgbClr val="1E3040"/>
            </a:solidFill>
            <a:prstDash val="solid"/>
          </a:ln>
        </p:spPr>
      </p:sp>
      <p:sp>
        <p:nvSpPr>
          <p:cNvPr id="24" name="T24"/>
          <p:cNvSpPr/>
          <p:nvPr/>
        </p:nvSpPr>
        <p:spPr>
          <a:xfrm>
            <a:off x="1399032" y="1377576"/>
            <a:ext cx="1444752" cy="564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25" name="S25"/>
          <p:cNvSpPr/>
          <p:nvPr/>
        </p:nvSpPr>
        <p:spPr>
          <a:xfrm>
            <a:off x="2880360" y="1350000"/>
            <a:ext cx="5852160" cy="714862"/>
          </a:xfrm>
          <a:prstGeom prst="rect">
            <a:avLst/>
          </a:prstGeom>
          <a:solidFill>
            <a:srgbClr val="111827"/>
          </a:solidFill>
          <a:ln w="5080">
            <a:solidFill>
              <a:srgbClr val="1E3040"/>
            </a:solidFill>
            <a:prstDash val="solid"/>
          </a:ln>
        </p:spPr>
      </p:sp>
      <p:sp>
        <p:nvSpPr>
          <p:cNvPr id="26" name="T26"/>
          <p:cNvSpPr/>
          <p:nvPr/>
        </p:nvSpPr>
        <p:spPr>
          <a:xfrm>
            <a:off x="2990088" y="1350000"/>
            <a:ext cx="5687568" cy="707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confusion matrix and evaluation metrics. Compared model performances. Analyzed feature importance to understand key impact factors.</a:t>
            </a:r>
            <a:endParaRPr lang="en-US" sz="1100" dirty="0"/>
          </a:p>
        </p:txBody>
      </p:sp>
      <p:sp>
        <p:nvSpPr>
          <p:cNvPr id="27" name="S27"/>
          <p:cNvSpPr/>
          <p:nvPr/>
        </p:nvSpPr>
        <p:spPr>
          <a:xfrm>
            <a:off x="347472" y="2070404"/>
            <a:ext cx="960120" cy="787026"/>
          </a:xfrm>
          <a:prstGeom prst="rect">
            <a:avLst/>
          </a:prstGeom>
          <a:solidFill>
            <a:srgbClr val="1E2A3A"/>
          </a:solidFill>
          <a:ln w="5080">
            <a:solidFill>
              <a:srgbClr val="1E3040"/>
            </a:solidFill>
            <a:prstDash val="solid"/>
          </a:ln>
        </p:spPr>
      </p:sp>
      <p:sp>
        <p:nvSpPr>
          <p:cNvPr id="28" name="S28"/>
          <p:cNvSpPr/>
          <p:nvPr/>
        </p:nvSpPr>
        <p:spPr>
          <a:xfrm>
            <a:off x="347472" y="2091220"/>
            <a:ext cx="45719" cy="78702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9" name="T29"/>
          <p:cNvSpPr/>
          <p:nvPr/>
        </p:nvSpPr>
        <p:spPr>
          <a:xfrm>
            <a:off x="438912" y="2010000"/>
            <a:ext cx="850392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050" dirty="0"/>
          </a:p>
        </p:txBody>
      </p:sp>
      <p:sp>
        <p:nvSpPr>
          <p:cNvPr id="30" name="S30"/>
          <p:cNvSpPr/>
          <p:nvPr/>
        </p:nvSpPr>
        <p:spPr>
          <a:xfrm>
            <a:off x="1307592" y="2070404"/>
            <a:ext cx="1572768" cy="773518"/>
          </a:xfrm>
          <a:prstGeom prst="rect">
            <a:avLst/>
          </a:prstGeom>
          <a:solidFill>
            <a:srgbClr val="1E2A3A"/>
          </a:solidFill>
          <a:ln w="5080">
            <a:solidFill>
              <a:srgbClr val="1E3040"/>
            </a:solidFill>
            <a:prstDash val="solid"/>
          </a:ln>
        </p:spPr>
      </p:sp>
      <p:sp>
        <p:nvSpPr>
          <p:cNvPr id="31" name="T31"/>
          <p:cNvSpPr/>
          <p:nvPr/>
        </p:nvSpPr>
        <p:spPr>
          <a:xfrm>
            <a:off x="1399032" y="2037576"/>
            <a:ext cx="1444752" cy="564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Predictor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Prototype</a:t>
            </a:r>
            <a:endParaRPr lang="en-US" sz="1000" dirty="0"/>
          </a:p>
        </p:txBody>
      </p:sp>
      <p:sp>
        <p:nvSpPr>
          <p:cNvPr id="32" name="S32"/>
          <p:cNvSpPr/>
          <p:nvPr/>
        </p:nvSpPr>
        <p:spPr>
          <a:xfrm>
            <a:off x="2880360" y="2077712"/>
            <a:ext cx="5852160" cy="795044"/>
          </a:xfrm>
          <a:prstGeom prst="rect">
            <a:avLst/>
          </a:prstGeom>
          <a:solidFill>
            <a:srgbClr val="1E2A3A"/>
          </a:solidFill>
          <a:ln w="5080">
            <a:solidFill>
              <a:srgbClr val="1E3040"/>
            </a:solidFill>
            <a:prstDash val="solid"/>
          </a:ln>
        </p:spPr>
      </p:sp>
      <p:sp>
        <p:nvSpPr>
          <p:cNvPr id="33" name="T33"/>
          <p:cNvSpPr/>
          <p:nvPr/>
        </p:nvSpPr>
        <p:spPr>
          <a:xfrm>
            <a:off x="2990088" y="2037576"/>
            <a:ext cx="5687568" cy="84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FastAPI backend for prediction. Built React frontend for user input. Integrated model with UI to display impact prediction results.</a:t>
            </a:r>
            <a:endParaRPr lang="en-US" sz="1100" dirty="0"/>
          </a:p>
        </p:txBody>
      </p:sp>
      <p:sp>
        <p:nvSpPr>
          <p:cNvPr id="34" name="S34"/>
          <p:cNvSpPr/>
          <p:nvPr/>
        </p:nvSpPr>
        <p:spPr>
          <a:xfrm>
            <a:off x="384048" y="2863242"/>
            <a:ext cx="960120" cy="831321"/>
          </a:xfrm>
          <a:prstGeom prst="rect">
            <a:avLst/>
          </a:prstGeom>
          <a:solidFill>
            <a:srgbClr val="111827"/>
          </a:solidFill>
          <a:ln w="5080">
            <a:solidFill>
              <a:srgbClr val="1E3040"/>
            </a:solidFill>
            <a:prstDash val="solid"/>
          </a:ln>
        </p:spPr>
      </p:sp>
      <p:sp>
        <p:nvSpPr>
          <p:cNvPr id="35" name="S35"/>
          <p:cNvSpPr/>
          <p:nvPr/>
        </p:nvSpPr>
        <p:spPr>
          <a:xfrm>
            <a:off x="342900" y="2892892"/>
            <a:ext cx="45719" cy="801671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6" name="T36"/>
          <p:cNvSpPr/>
          <p:nvPr/>
        </p:nvSpPr>
        <p:spPr>
          <a:xfrm>
            <a:off x="448056" y="2954462"/>
            <a:ext cx="850392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050" dirty="0"/>
          </a:p>
        </p:txBody>
      </p:sp>
      <p:sp>
        <p:nvSpPr>
          <p:cNvPr id="37" name="S37"/>
          <p:cNvSpPr/>
          <p:nvPr/>
        </p:nvSpPr>
        <p:spPr>
          <a:xfrm>
            <a:off x="1307592" y="2859503"/>
            <a:ext cx="1572768" cy="801671"/>
          </a:xfrm>
          <a:prstGeom prst="rect">
            <a:avLst/>
          </a:prstGeom>
          <a:solidFill>
            <a:srgbClr val="111827"/>
          </a:solidFill>
          <a:ln w="5080">
            <a:solidFill>
              <a:srgbClr val="1E3040"/>
            </a:solidFill>
            <a:prstDash val="solid"/>
          </a:ln>
        </p:spPr>
      </p:sp>
      <p:sp>
        <p:nvSpPr>
          <p:cNvPr id="38" name="T38"/>
          <p:cNvSpPr/>
          <p:nvPr/>
        </p:nvSpPr>
        <p:spPr>
          <a:xfrm>
            <a:off x="1399032" y="2970710"/>
            <a:ext cx="1444752" cy="564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000" dirty="0"/>
          </a:p>
        </p:txBody>
      </p:sp>
      <p:sp>
        <p:nvSpPr>
          <p:cNvPr id="39" name="S39"/>
          <p:cNvSpPr/>
          <p:nvPr/>
        </p:nvSpPr>
        <p:spPr>
          <a:xfrm>
            <a:off x="2862072" y="2872757"/>
            <a:ext cx="5833872" cy="788418"/>
          </a:xfrm>
          <a:prstGeom prst="rect">
            <a:avLst/>
          </a:prstGeom>
          <a:solidFill>
            <a:srgbClr val="111827"/>
          </a:solidFill>
          <a:ln w="5080">
            <a:solidFill>
              <a:srgbClr val="1E3040"/>
            </a:solidFill>
            <a:prstDash val="solid"/>
          </a:ln>
        </p:spPr>
      </p:sp>
      <p:sp>
        <p:nvSpPr>
          <p:cNvPr id="40" name="T40"/>
          <p:cNvSpPr/>
          <p:nvPr/>
        </p:nvSpPr>
        <p:spPr>
          <a:xfrm>
            <a:off x="3004016" y="2927824"/>
            <a:ext cx="5687568" cy="564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application with different input scenarios and edge cases. Optimized model performance and UI logic. Saved trained model, scaler, and encoder using joblib for deployment.</a:t>
            </a:r>
            <a:endParaRPr lang="en-US" sz="1100" dirty="0"/>
          </a:p>
        </p:txBody>
      </p:sp>
      <p:sp>
        <p:nvSpPr>
          <p:cNvPr id="41" name="S41"/>
          <p:cNvSpPr/>
          <p:nvPr/>
        </p:nvSpPr>
        <p:spPr>
          <a:xfrm>
            <a:off x="338328" y="3694564"/>
            <a:ext cx="960120" cy="902224"/>
          </a:xfrm>
          <a:prstGeom prst="rect">
            <a:avLst/>
          </a:prstGeom>
          <a:solidFill>
            <a:srgbClr val="1E2A3A"/>
          </a:solidFill>
          <a:ln w="5080">
            <a:solidFill>
              <a:srgbClr val="1E3040"/>
            </a:solidFill>
            <a:prstDash val="solid"/>
          </a:ln>
        </p:spPr>
      </p:sp>
      <p:sp>
        <p:nvSpPr>
          <p:cNvPr id="42" name="S42"/>
          <p:cNvSpPr/>
          <p:nvPr/>
        </p:nvSpPr>
        <p:spPr>
          <a:xfrm>
            <a:off x="347472" y="3694564"/>
            <a:ext cx="45719" cy="902225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43"/>
          <p:cNvSpPr/>
          <p:nvPr/>
        </p:nvSpPr>
        <p:spPr>
          <a:xfrm>
            <a:off x="475488" y="3850001"/>
            <a:ext cx="850392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050" dirty="0"/>
          </a:p>
        </p:txBody>
      </p:sp>
      <p:sp>
        <p:nvSpPr>
          <p:cNvPr id="44" name="S44"/>
          <p:cNvSpPr/>
          <p:nvPr/>
        </p:nvSpPr>
        <p:spPr>
          <a:xfrm>
            <a:off x="1280160" y="3688751"/>
            <a:ext cx="1572768" cy="902225"/>
          </a:xfrm>
          <a:prstGeom prst="rect">
            <a:avLst/>
          </a:prstGeom>
          <a:solidFill>
            <a:srgbClr val="1E2A3A"/>
          </a:solidFill>
          <a:ln w="5080">
            <a:solidFill>
              <a:srgbClr val="1E304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5" name="T45"/>
          <p:cNvSpPr/>
          <p:nvPr/>
        </p:nvSpPr>
        <p:spPr>
          <a:xfrm>
            <a:off x="1371600" y="3857439"/>
            <a:ext cx="1444752" cy="564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&amp;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00" dirty="0"/>
          </a:p>
        </p:txBody>
      </p:sp>
      <p:sp>
        <p:nvSpPr>
          <p:cNvPr id="46" name="S46"/>
          <p:cNvSpPr/>
          <p:nvPr/>
        </p:nvSpPr>
        <p:spPr>
          <a:xfrm>
            <a:off x="2862072" y="3676755"/>
            <a:ext cx="5852160" cy="914221"/>
          </a:xfrm>
          <a:prstGeom prst="rect">
            <a:avLst/>
          </a:prstGeom>
          <a:solidFill>
            <a:srgbClr val="1E2A3A"/>
          </a:solidFill>
          <a:ln w="5080">
            <a:solidFill>
              <a:srgbClr val="1E3040"/>
            </a:solidFill>
            <a:prstDash val="solid"/>
          </a:ln>
        </p:spPr>
      </p:sp>
      <p:sp>
        <p:nvSpPr>
          <p:cNvPr id="47" name="T47"/>
          <p:cNvSpPr/>
          <p:nvPr/>
        </p:nvSpPr>
        <p:spPr>
          <a:xfrm>
            <a:off x="3004016" y="3850001"/>
            <a:ext cx="5687568" cy="564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predictions using real-world data samples. Prepared final report including visualizations and model insights. Created presentation slides summarizing project workflow and results.</a:t>
            </a:r>
            <a:endParaRPr 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10E006-2C73-F5A3-B8B4-D46B5898748A}"/>
              </a:ext>
            </a:extLst>
          </p:cNvPr>
          <p:cNvSpPr txBox="1"/>
          <p:nvPr/>
        </p:nvSpPr>
        <p:spPr>
          <a:xfrm>
            <a:off x="1417320" y="1121124"/>
            <a:ext cx="50687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00" b="1" dirty="0">
                <a:solidFill>
                  <a:srgbClr val="00FFFF"/>
                </a:solidFill>
              </a:rPr>
              <a:t>T A S 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3" name="Shape 1"/>
          <p:cNvSpPr/>
          <p:nvPr/>
        </p:nvSpPr>
        <p:spPr>
          <a:xfrm>
            <a:off x="0" y="1188720"/>
            <a:ext cx="914400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5" name="Shape 3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6" name="Shape 4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7" name="Shape 5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>
            <a:off x="0" y="3474720"/>
            <a:ext cx="914400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9" name="Shape 7"/>
          <p:cNvSpPr/>
          <p:nvPr/>
        </p:nvSpPr>
        <p:spPr>
          <a:xfrm>
            <a:off x="0" y="3931920"/>
            <a:ext cx="914400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10" name="Shape 8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11" name="Shape 9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3810">
            <a:solidFill>
              <a:srgbClr val="1E3A4A"/>
            </a:solidFill>
            <a:prstDash val="sysDash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640080"/>
            <a:ext cx="6400800" cy="3657600"/>
          </a:xfrm>
          <a:prstGeom prst="rect">
            <a:avLst/>
          </a:prstGeom>
          <a:solidFill>
            <a:srgbClr val="081824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640080"/>
            <a:ext cx="64008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822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MISSION_COMPLETE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11887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ImpactSense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1371600" y="1965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 Impact Prediction — Redefined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86000" y="2468880"/>
            <a:ext cx="45720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ML pipeline delivering Green / Orange / Red alert classification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Immersive cyberpunk 3D React frontend — live at impactsense.vercel.app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3337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Secure FastAPI backend with JWT auth &amp; MySQL on Aiven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37490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impactsense.vercel.app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C2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</a:t>
            </a:r>
            <a:r>
              <a:rPr lang="en-US" sz="8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ImpactSense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1045</Words>
  <Application>Microsoft Office PowerPoint</Application>
  <PresentationFormat>On-screen Show (16:9)</PresentationFormat>
  <Paragraphs>187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ImpactSense – Earthquake Impact Prediction</dc:title>
  <dc:subject>PptxGenJS Presentation</dc:subject>
  <dc:creator>PptxGenJS</dc:creator>
  <cp:lastModifiedBy>Joffy Maria Pius</cp:lastModifiedBy>
  <cp:revision>2</cp:revision>
  <dcterms:created xsi:type="dcterms:W3CDTF">2026-04-04T05:37:28Z</dcterms:created>
  <dcterms:modified xsi:type="dcterms:W3CDTF">2026-04-04T07:31:45Z</dcterms:modified>
</cp:coreProperties>
</file>