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 initials="m" lastIdx="1" clrIdx="0">
    <p:extLst>
      <p:ext uri="{19B8F6BF-5375-455C-9EA6-DF929625EA0E}">
        <p15:presenceInfo xmlns:p15="http://schemas.microsoft.com/office/powerpoint/2012/main" userId="mi"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8DD12"/>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80" autoAdjust="0"/>
    <p:restoredTop sz="94660"/>
  </p:normalViewPr>
  <p:slideViewPr>
    <p:cSldViewPr snapToGrid="0">
      <p:cViewPr varScale="1">
        <p:scale>
          <a:sx n="57" d="100"/>
          <a:sy n="57" d="100"/>
        </p:scale>
        <p:origin x="82" y="5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9B691A-CE59-64B1-0191-7D7CE2B80E2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1D0CD6C8-348A-DC36-99F4-EDDD354092C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9D42F95E-70A5-E483-8162-BE0C7ADB2F9A}"/>
              </a:ext>
            </a:extLst>
          </p:cNvPr>
          <p:cNvSpPr>
            <a:spLocks noGrp="1"/>
          </p:cNvSpPr>
          <p:nvPr>
            <p:ph type="dt" sz="half" idx="10"/>
          </p:nvPr>
        </p:nvSpPr>
        <p:spPr/>
        <p:txBody>
          <a:bodyPr/>
          <a:lstStyle/>
          <a:p>
            <a:fld id="{DA950623-34CE-4DFA-81A1-B9DE48703233}" type="datetimeFigureOut">
              <a:rPr lang="en-IN" smtClean="0"/>
              <a:t>03-04-2026</a:t>
            </a:fld>
            <a:endParaRPr lang="en-IN"/>
          </a:p>
        </p:txBody>
      </p:sp>
      <p:sp>
        <p:nvSpPr>
          <p:cNvPr id="5" name="Footer Placeholder 4">
            <a:extLst>
              <a:ext uri="{FF2B5EF4-FFF2-40B4-BE49-F238E27FC236}">
                <a16:creationId xmlns:a16="http://schemas.microsoft.com/office/drawing/2014/main" id="{61AAEEA2-FE14-142D-243C-6A0E23C6999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15BFC2D-2C8E-45EC-3845-F66C52A72168}"/>
              </a:ext>
            </a:extLst>
          </p:cNvPr>
          <p:cNvSpPr>
            <a:spLocks noGrp="1"/>
          </p:cNvSpPr>
          <p:nvPr>
            <p:ph type="sldNum" sz="quarter" idx="12"/>
          </p:nvPr>
        </p:nvSpPr>
        <p:spPr/>
        <p:txBody>
          <a:bodyPr/>
          <a:lstStyle/>
          <a:p>
            <a:fld id="{7FF29751-D31D-4F60-B88B-90D746C428B3}" type="slidenum">
              <a:rPr lang="en-IN" smtClean="0"/>
              <a:t>‹#›</a:t>
            </a:fld>
            <a:endParaRPr lang="en-IN"/>
          </a:p>
        </p:txBody>
      </p:sp>
    </p:spTree>
    <p:extLst>
      <p:ext uri="{BB962C8B-B14F-4D97-AF65-F5344CB8AC3E}">
        <p14:creationId xmlns:p14="http://schemas.microsoft.com/office/powerpoint/2010/main" val="38916607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DA883F-9E75-9691-1185-D154B02A132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AF7EABA-B21B-40E2-EA9F-38C322DD935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7E53D2F-D012-8F27-93F6-5F46E3B0195C}"/>
              </a:ext>
            </a:extLst>
          </p:cNvPr>
          <p:cNvSpPr>
            <a:spLocks noGrp="1"/>
          </p:cNvSpPr>
          <p:nvPr>
            <p:ph type="dt" sz="half" idx="10"/>
          </p:nvPr>
        </p:nvSpPr>
        <p:spPr/>
        <p:txBody>
          <a:bodyPr/>
          <a:lstStyle/>
          <a:p>
            <a:fld id="{DA950623-34CE-4DFA-81A1-B9DE48703233}" type="datetimeFigureOut">
              <a:rPr lang="en-IN" smtClean="0"/>
              <a:t>03-04-2026</a:t>
            </a:fld>
            <a:endParaRPr lang="en-IN"/>
          </a:p>
        </p:txBody>
      </p:sp>
      <p:sp>
        <p:nvSpPr>
          <p:cNvPr id="5" name="Footer Placeholder 4">
            <a:extLst>
              <a:ext uri="{FF2B5EF4-FFF2-40B4-BE49-F238E27FC236}">
                <a16:creationId xmlns:a16="http://schemas.microsoft.com/office/drawing/2014/main" id="{D00328BB-558D-74DC-FBB6-D746EA5D78C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A6B02B6-B867-15E1-A2E7-F35A6E1C6FDD}"/>
              </a:ext>
            </a:extLst>
          </p:cNvPr>
          <p:cNvSpPr>
            <a:spLocks noGrp="1"/>
          </p:cNvSpPr>
          <p:nvPr>
            <p:ph type="sldNum" sz="quarter" idx="12"/>
          </p:nvPr>
        </p:nvSpPr>
        <p:spPr/>
        <p:txBody>
          <a:bodyPr/>
          <a:lstStyle/>
          <a:p>
            <a:fld id="{7FF29751-D31D-4F60-B88B-90D746C428B3}" type="slidenum">
              <a:rPr lang="en-IN" smtClean="0"/>
              <a:t>‹#›</a:t>
            </a:fld>
            <a:endParaRPr lang="en-IN"/>
          </a:p>
        </p:txBody>
      </p:sp>
    </p:spTree>
    <p:extLst>
      <p:ext uri="{BB962C8B-B14F-4D97-AF65-F5344CB8AC3E}">
        <p14:creationId xmlns:p14="http://schemas.microsoft.com/office/powerpoint/2010/main" val="10198452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017809-B57D-CA83-3F90-FAFBE6E1CB9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873625DB-9850-0594-9105-6521CC184F0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BB053A7-7D3F-F932-B8DD-D288CDB45D80}"/>
              </a:ext>
            </a:extLst>
          </p:cNvPr>
          <p:cNvSpPr>
            <a:spLocks noGrp="1"/>
          </p:cNvSpPr>
          <p:nvPr>
            <p:ph type="dt" sz="half" idx="10"/>
          </p:nvPr>
        </p:nvSpPr>
        <p:spPr/>
        <p:txBody>
          <a:bodyPr/>
          <a:lstStyle/>
          <a:p>
            <a:fld id="{DA950623-34CE-4DFA-81A1-B9DE48703233}" type="datetimeFigureOut">
              <a:rPr lang="en-IN" smtClean="0"/>
              <a:t>03-04-2026</a:t>
            </a:fld>
            <a:endParaRPr lang="en-IN"/>
          </a:p>
        </p:txBody>
      </p:sp>
      <p:sp>
        <p:nvSpPr>
          <p:cNvPr id="5" name="Footer Placeholder 4">
            <a:extLst>
              <a:ext uri="{FF2B5EF4-FFF2-40B4-BE49-F238E27FC236}">
                <a16:creationId xmlns:a16="http://schemas.microsoft.com/office/drawing/2014/main" id="{3CBBC424-F0CB-3F7D-5C38-7AA81C7A413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D0B3B3D-32C4-CB73-9721-87BCF69C419C}"/>
              </a:ext>
            </a:extLst>
          </p:cNvPr>
          <p:cNvSpPr>
            <a:spLocks noGrp="1"/>
          </p:cNvSpPr>
          <p:nvPr>
            <p:ph type="sldNum" sz="quarter" idx="12"/>
          </p:nvPr>
        </p:nvSpPr>
        <p:spPr/>
        <p:txBody>
          <a:bodyPr/>
          <a:lstStyle/>
          <a:p>
            <a:fld id="{7FF29751-D31D-4F60-B88B-90D746C428B3}" type="slidenum">
              <a:rPr lang="en-IN" smtClean="0"/>
              <a:t>‹#›</a:t>
            </a:fld>
            <a:endParaRPr lang="en-IN"/>
          </a:p>
        </p:txBody>
      </p:sp>
    </p:spTree>
    <p:extLst>
      <p:ext uri="{BB962C8B-B14F-4D97-AF65-F5344CB8AC3E}">
        <p14:creationId xmlns:p14="http://schemas.microsoft.com/office/powerpoint/2010/main" val="22634897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864337-ABEA-EA9D-1D40-DDEA44F6616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6F67704-F984-0B0B-E3D0-D51BFC79221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71805E7A-0FC9-2A55-0816-E5F3B7E3ECC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F0ED23F-EB62-3143-8EAF-68236D269AC8}"/>
              </a:ext>
            </a:extLst>
          </p:cNvPr>
          <p:cNvSpPr>
            <a:spLocks noGrp="1"/>
          </p:cNvSpPr>
          <p:nvPr>
            <p:ph type="dt" sz="half" idx="10"/>
          </p:nvPr>
        </p:nvSpPr>
        <p:spPr/>
        <p:txBody>
          <a:bodyPr/>
          <a:lstStyle/>
          <a:p>
            <a:fld id="{DA950623-34CE-4DFA-81A1-B9DE48703233}" type="datetimeFigureOut">
              <a:rPr lang="en-IN" smtClean="0"/>
              <a:t>03-04-2026</a:t>
            </a:fld>
            <a:endParaRPr lang="en-IN"/>
          </a:p>
        </p:txBody>
      </p:sp>
      <p:sp>
        <p:nvSpPr>
          <p:cNvPr id="6" name="Footer Placeholder 5">
            <a:extLst>
              <a:ext uri="{FF2B5EF4-FFF2-40B4-BE49-F238E27FC236}">
                <a16:creationId xmlns:a16="http://schemas.microsoft.com/office/drawing/2014/main" id="{18B7BCAA-947E-5F3D-A6A2-FD42C094E9E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5239748-0D70-BC94-B96C-0B736CB87F2C}"/>
              </a:ext>
            </a:extLst>
          </p:cNvPr>
          <p:cNvSpPr>
            <a:spLocks noGrp="1"/>
          </p:cNvSpPr>
          <p:nvPr>
            <p:ph type="sldNum" sz="quarter" idx="12"/>
          </p:nvPr>
        </p:nvSpPr>
        <p:spPr/>
        <p:txBody>
          <a:bodyPr/>
          <a:lstStyle/>
          <a:p>
            <a:fld id="{7FF29751-D31D-4F60-B88B-90D746C428B3}" type="slidenum">
              <a:rPr lang="en-IN" smtClean="0"/>
              <a:t>‹#›</a:t>
            </a:fld>
            <a:endParaRPr lang="en-IN"/>
          </a:p>
        </p:txBody>
      </p:sp>
    </p:spTree>
    <p:extLst>
      <p:ext uri="{BB962C8B-B14F-4D97-AF65-F5344CB8AC3E}">
        <p14:creationId xmlns:p14="http://schemas.microsoft.com/office/powerpoint/2010/main" val="20951805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B8A21E-157F-6EFE-5876-05899A7E3ED9}"/>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A240B02-F976-C86E-8BF5-448B0474733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CFBD100-405C-A153-EE96-40235BCD4C3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EA390233-D5BB-7F72-5E45-D382D0A41E6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C40BE12-68A7-E5CF-5C5A-C1704F9861B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37A435CB-7C3A-2E3B-3142-B9D1402CC96F}"/>
              </a:ext>
            </a:extLst>
          </p:cNvPr>
          <p:cNvSpPr>
            <a:spLocks noGrp="1"/>
          </p:cNvSpPr>
          <p:nvPr>
            <p:ph type="dt" sz="half" idx="10"/>
          </p:nvPr>
        </p:nvSpPr>
        <p:spPr/>
        <p:txBody>
          <a:bodyPr/>
          <a:lstStyle/>
          <a:p>
            <a:fld id="{DA950623-34CE-4DFA-81A1-B9DE48703233}" type="datetimeFigureOut">
              <a:rPr lang="en-IN" smtClean="0"/>
              <a:t>03-04-2026</a:t>
            </a:fld>
            <a:endParaRPr lang="en-IN"/>
          </a:p>
        </p:txBody>
      </p:sp>
      <p:sp>
        <p:nvSpPr>
          <p:cNvPr id="8" name="Footer Placeholder 7">
            <a:extLst>
              <a:ext uri="{FF2B5EF4-FFF2-40B4-BE49-F238E27FC236}">
                <a16:creationId xmlns:a16="http://schemas.microsoft.com/office/drawing/2014/main" id="{B9F9FD36-0267-0A94-181D-724E29422BCF}"/>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8A7BC1F7-647B-3593-5CD8-89B9E7FCA36C}"/>
              </a:ext>
            </a:extLst>
          </p:cNvPr>
          <p:cNvSpPr>
            <a:spLocks noGrp="1"/>
          </p:cNvSpPr>
          <p:nvPr>
            <p:ph type="sldNum" sz="quarter" idx="12"/>
          </p:nvPr>
        </p:nvSpPr>
        <p:spPr/>
        <p:txBody>
          <a:bodyPr/>
          <a:lstStyle/>
          <a:p>
            <a:fld id="{7FF29751-D31D-4F60-B88B-90D746C428B3}" type="slidenum">
              <a:rPr lang="en-IN" smtClean="0"/>
              <a:t>‹#›</a:t>
            </a:fld>
            <a:endParaRPr lang="en-IN"/>
          </a:p>
        </p:txBody>
      </p:sp>
    </p:spTree>
    <p:extLst>
      <p:ext uri="{BB962C8B-B14F-4D97-AF65-F5344CB8AC3E}">
        <p14:creationId xmlns:p14="http://schemas.microsoft.com/office/powerpoint/2010/main" val="6060136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12B82E-929A-0926-C7C8-5B8B19E9223B}"/>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68A1D908-52E1-D6D5-4D29-81C81E338D29}"/>
              </a:ext>
            </a:extLst>
          </p:cNvPr>
          <p:cNvSpPr>
            <a:spLocks noGrp="1"/>
          </p:cNvSpPr>
          <p:nvPr>
            <p:ph type="dt" sz="half" idx="10"/>
          </p:nvPr>
        </p:nvSpPr>
        <p:spPr/>
        <p:txBody>
          <a:bodyPr/>
          <a:lstStyle/>
          <a:p>
            <a:fld id="{DA950623-34CE-4DFA-81A1-B9DE48703233}" type="datetimeFigureOut">
              <a:rPr lang="en-IN" smtClean="0"/>
              <a:t>03-04-2026</a:t>
            </a:fld>
            <a:endParaRPr lang="en-IN"/>
          </a:p>
        </p:txBody>
      </p:sp>
      <p:sp>
        <p:nvSpPr>
          <p:cNvPr id="4" name="Footer Placeholder 3">
            <a:extLst>
              <a:ext uri="{FF2B5EF4-FFF2-40B4-BE49-F238E27FC236}">
                <a16:creationId xmlns:a16="http://schemas.microsoft.com/office/drawing/2014/main" id="{4C08499E-835A-02A3-DFFB-60A904EBF87E}"/>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6FC93338-804B-410E-A51C-0982B3E61483}"/>
              </a:ext>
            </a:extLst>
          </p:cNvPr>
          <p:cNvSpPr>
            <a:spLocks noGrp="1"/>
          </p:cNvSpPr>
          <p:nvPr>
            <p:ph type="sldNum" sz="quarter" idx="12"/>
          </p:nvPr>
        </p:nvSpPr>
        <p:spPr/>
        <p:txBody>
          <a:bodyPr/>
          <a:lstStyle/>
          <a:p>
            <a:fld id="{7FF29751-D31D-4F60-B88B-90D746C428B3}" type="slidenum">
              <a:rPr lang="en-IN" smtClean="0"/>
              <a:t>‹#›</a:t>
            </a:fld>
            <a:endParaRPr lang="en-IN"/>
          </a:p>
        </p:txBody>
      </p:sp>
    </p:spTree>
    <p:extLst>
      <p:ext uri="{BB962C8B-B14F-4D97-AF65-F5344CB8AC3E}">
        <p14:creationId xmlns:p14="http://schemas.microsoft.com/office/powerpoint/2010/main" val="41100268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71987AD-E607-3651-DCAC-9E7E874D9C00}"/>
              </a:ext>
            </a:extLst>
          </p:cNvPr>
          <p:cNvSpPr>
            <a:spLocks noGrp="1"/>
          </p:cNvSpPr>
          <p:nvPr>
            <p:ph type="dt" sz="half" idx="10"/>
          </p:nvPr>
        </p:nvSpPr>
        <p:spPr/>
        <p:txBody>
          <a:bodyPr/>
          <a:lstStyle/>
          <a:p>
            <a:fld id="{DA950623-34CE-4DFA-81A1-B9DE48703233}" type="datetimeFigureOut">
              <a:rPr lang="en-IN" smtClean="0"/>
              <a:t>03-04-2026</a:t>
            </a:fld>
            <a:endParaRPr lang="en-IN"/>
          </a:p>
        </p:txBody>
      </p:sp>
      <p:sp>
        <p:nvSpPr>
          <p:cNvPr id="3" name="Footer Placeholder 2">
            <a:extLst>
              <a:ext uri="{FF2B5EF4-FFF2-40B4-BE49-F238E27FC236}">
                <a16:creationId xmlns:a16="http://schemas.microsoft.com/office/drawing/2014/main" id="{52FD3739-B7B3-6312-4176-C3AF88467F23}"/>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5167BD24-FCD7-C7D1-A529-2BC4EAF25750}"/>
              </a:ext>
            </a:extLst>
          </p:cNvPr>
          <p:cNvSpPr>
            <a:spLocks noGrp="1"/>
          </p:cNvSpPr>
          <p:nvPr>
            <p:ph type="sldNum" sz="quarter" idx="12"/>
          </p:nvPr>
        </p:nvSpPr>
        <p:spPr/>
        <p:txBody>
          <a:bodyPr/>
          <a:lstStyle/>
          <a:p>
            <a:fld id="{7FF29751-D31D-4F60-B88B-90D746C428B3}" type="slidenum">
              <a:rPr lang="en-IN" smtClean="0"/>
              <a:t>‹#›</a:t>
            </a:fld>
            <a:endParaRPr lang="en-IN"/>
          </a:p>
        </p:txBody>
      </p:sp>
    </p:spTree>
    <p:extLst>
      <p:ext uri="{BB962C8B-B14F-4D97-AF65-F5344CB8AC3E}">
        <p14:creationId xmlns:p14="http://schemas.microsoft.com/office/powerpoint/2010/main" val="2521603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DF4942-7D16-3A06-0779-7FB64D1D275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C5826EC0-E116-1D00-0635-45D1BB00A44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78D3061D-C270-8E9B-84A7-E60FC6D28F7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178D71A-1D5A-8B88-7345-5B6B55FBBA27}"/>
              </a:ext>
            </a:extLst>
          </p:cNvPr>
          <p:cNvSpPr>
            <a:spLocks noGrp="1"/>
          </p:cNvSpPr>
          <p:nvPr>
            <p:ph type="dt" sz="half" idx="10"/>
          </p:nvPr>
        </p:nvSpPr>
        <p:spPr/>
        <p:txBody>
          <a:bodyPr/>
          <a:lstStyle/>
          <a:p>
            <a:fld id="{DA950623-34CE-4DFA-81A1-B9DE48703233}" type="datetimeFigureOut">
              <a:rPr lang="en-IN" smtClean="0"/>
              <a:t>03-04-2026</a:t>
            </a:fld>
            <a:endParaRPr lang="en-IN"/>
          </a:p>
        </p:txBody>
      </p:sp>
      <p:sp>
        <p:nvSpPr>
          <p:cNvPr id="6" name="Footer Placeholder 5">
            <a:extLst>
              <a:ext uri="{FF2B5EF4-FFF2-40B4-BE49-F238E27FC236}">
                <a16:creationId xmlns:a16="http://schemas.microsoft.com/office/drawing/2014/main" id="{38887394-B433-096A-7959-B4AD5EA3DA4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C859351-4850-623A-709B-729F672030D3}"/>
              </a:ext>
            </a:extLst>
          </p:cNvPr>
          <p:cNvSpPr>
            <a:spLocks noGrp="1"/>
          </p:cNvSpPr>
          <p:nvPr>
            <p:ph type="sldNum" sz="quarter" idx="12"/>
          </p:nvPr>
        </p:nvSpPr>
        <p:spPr/>
        <p:txBody>
          <a:bodyPr/>
          <a:lstStyle/>
          <a:p>
            <a:fld id="{7FF29751-D31D-4F60-B88B-90D746C428B3}" type="slidenum">
              <a:rPr lang="en-IN" smtClean="0"/>
              <a:t>‹#›</a:t>
            </a:fld>
            <a:endParaRPr lang="en-IN"/>
          </a:p>
        </p:txBody>
      </p:sp>
    </p:spTree>
    <p:extLst>
      <p:ext uri="{BB962C8B-B14F-4D97-AF65-F5344CB8AC3E}">
        <p14:creationId xmlns:p14="http://schemas.microsoft.com/office/powerpoint/2010/main" val="4765227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625842-6E3F-D37F-767C-8292F6B7F35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CA4967AF-618A-CA47-5657-8DEF3E337F3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8591019-F0D0-55A4-052F-6D186EF0EFD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38C12B1-AD76-DEB3-456F-B48E0277975C}"/>
              </a:ext>
            </a:extLst>
          </p:cNvPr>
          <p:cNvSpPr>
            <a:spLocks noGrp="1"/>
          </p:cNvSpPr>
          <p:nvPr>
            <p:ph type="dt" sz="half" idx="10"/>
          </p:nvPr>
        </p:nvSpPr>
        <p:spPr/>
        <p:txBody>
          <a:bodyPr/>
          <a:lstStyle/>
          <a:p>
            <a:fld id="{DA950623-34CE-4DFA-81A1-B9DE48703233}" type="datetimeFigureOut">
              <a:rPr lang="en-IN" smtClean="0"/>
              <a:t>03-04-2026</a:t>
            </a:fld>
            <a:endParaRPr lang="en-IN"/>
          </a:p>
        </p:txBody>
      </p:sp>
      <p:sp>
        <p:nvSpPr>
          <p:cNvPr id="6" name="Footer Placeholder 5">
            <a:extLst>
              <a:ext uri="{FF2B5EF4-FFF2-40B4-BE49-F238E27FC236}">
                <a16:creationId xmlns:a16="http://schemas.microsoft.com/office/drawing/2014/main" id="{AF94D309-4698-08D9-70DE-8A12B4C1FD4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7FF1F08-D463-DA8B-C47B-6E43B29B7058}"/>
              </a:ext>
            </a:extLst>
          </p:cNvPr>
          <p:cNvSpPr>
            <a:spLocks noGrp="1"/>
          </p:cNvSpPr>
          <p:nvPr>
            <p:ph type="sldNum" sz="quarter" idx="12"/>
          </p:nvPr>
        </p:nvSpPr>
        <p:spPr/>
        <p:txBody>
          <a:bodyPr/>
          <a:lstStyle/>
          <a:p>
            <a:fld id="{7FF29751-D31D-4F60-B88B-90D746C428B3}" type="slidenum">
              <a:rPr lang="en-IN" smtClean="0"/>
              <a:t>‹#›</a:t>
            </a:fld>
            <a:endParaRPr lang="en-IN"/>
          </a:p>
        </p:txBody>
      </p:sp>
    </p:spTree>
    <p:extLst>
      <p:ext uri="{BB962C8B-B14F-4D97-AF65-F5344CB8AC3E}">
        <p14:creationId xmlns:p14="http://schemas.microsoft.com/office/powerpoint/2010/main" val="6403956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B8B3F5-9649-83C7-E113-C756A7C6456B}"/>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5396B8F-BBB5-FF75-B134-DBF445772DF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3F55B96-2658-18B6-3F03-E4163A98614C}"/>
              </a:ext>
            </a:extLst>
          </p:cNvPr>
          <p:cNvSpPr>
            <a:spLocks noGrp="1"/>
          </p:cNvSpPr>
          <p:nvPr>
            <p:ph type="dt" sz="half" idx="10"/>
          </p:nvPr>
        </p:nvSpPr>
        <p:spPr/>
        <p:txBody>
          <a:bodyPr/>
          <a:lstStyle/>
          <a:p>
            <a:fld id="{DA950623-34CE-4DFA-81A1-B9DE48703233}" type="datetimeFigureOut">
              <a:rPr lang="en-IN" smtClean="0"/>
              <a:t>03-04-2026</a:t>
            </a:fld>
            <a:endParaRPr lang="en-IN"/>
          </a:p>
        </p:txBody>
      </p:sp>
      <p:sp>
        <p:nvSpPr>
          <p:cNvPr id="5" name="Footer Placeholder 4">
            <a:extLst>
              <a:ext uri="{FF2B5EF4-FFF2-40B4-BE49-F238E27FC236}">
                <a16:creationId xmlns:a16="http://schemas.microsoft.com/office/drawing/2014/main" id="{2320F4AE-EE6C-0B93-FF48-1FC6E61A761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9430659-1ADB-338C-7B97-856047C7CA17}"/>
              </a:ext>
            </a:extLst>
          </p:cNvPr>
          <p:cNvSpPr>
            <a:spLocks noGrp="1"/>
          </p:cNvSpPr>
          <p:nvPr>
            <p:ph type="sldNum" sz="quarter" idx="12"/>
          </p:nvPr>
        </p:nvSpPr>
        <p:spPr/>
        <p:txBody>
          <a:bodyPr/>
          <a:lstStyle/>
          <a:p>
            <a:fld id="{7FF29751-D31D-4F60-B88B-90D746C428B3}" type="slidenum">
              <a:rPr lang="en-IN" smtClean="0"/>
              <a:t>‹#›</a:t>
            </a:fld>
            <a:endParaRPr lang="en-IN"/>
          </a:p>
        </p:txBody>
      </p:sp>
    </p:spTree>
    <p:extLst>
      <p:ext uri="{BB962C8B-B14F-4D97-AF65-F5344CB8AC3E}">
        <p14:creationId xmlns:p14="http://schemas.microsoft.com/office/powerpoint/2010/main" val="23538268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ACD1602-E3B0-38FD-A8BB-6792BC968B0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493F85C-8F76-E371-5B00-AD97071C20C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53DB551-2F06-6FCF-7D12-6EC72AA570C7}"/>
              </a:ext>
            </a:extLst>
          </p:cNvPr>
          <p:cNvSpPr>
            <a:spLocks noGrp="1"/>
          </p:cNvSpPr>
          <p:nvPr>
            <p:ph type="dt" sz="half" idx="10"/>
          </p:nvPr>
        </p:nvSpPr>
        <p:spPr/>
        <p:txBody>
          <a:bodyPr/>
          <a:lstStyle/>
          <a:p>
            <a:fld id="{DA950623-34CE-4DFA-81A1-B9DE48703233}" type="datetimeFigureOut">
              <a:rPr lang="en-IN" smtClean="0"/>
              <a:t>03-04-2026</a:t>
            </a:fld>
            <a:endParaRPr lang="en-IN"/>
          </a:p>
        </p:txBody>
      </p:sp>
      <p:sp>
        <p:nvSpPr>
          <p:cNvPr id="5" name="Footer Placeholder 4">
            <a:extLst>
              <a:ext uri="{FF2B5EF4-FFF2-40B4-BE49-F238E27FC236}">
                <a16:creationId xmlns:a16="http://schemas.microsoft.com/office/drawing/2014/main" id="{57F9D675-568E-FFA7-F47E-B3B0B448133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767DC1C-B5EC-86CB-89E6-4899A8094DD0}"/>
              </a:ext>
            </a:extLst>
          </p:cNvPr>
          <p:cNvSpPr>
            <a:spLocks noGrp="1"/>
          </p:cNvSpPr>
          <p:nvPr>
            <p:ph type="sldNum" sz="quarter" idx="12"/>
          </p:nvPr>
        </p:nvSpPr>
        <p:spPr/>
        <p:txBody>
          <a:bodyPr/>
          <a:lstStyle/>
          <a:p>
            <a:fld id="{7FF29751-D31D-4F60-B88B-90D746C428B3}" type="slidenum">
              <a:rPr lang="en-IN" smtClean="0"/>
              <a:t>‹#›</a:t>
            </a:fld>
            <a:endParaRPr lang="en-IN"/>
          </a:p>
        </p:txBody>
      </p:sp>
    </p:spTree>
    <p:extLst>
      <p:ext uri="{BB962C8B-B14F-4D97-AF65-F5344CB8AC3E}">
        <p14:creationId xmlns:p14="http://schemas.microsoft.com/office/powerpoint/2010/main" val="4069802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alphaModFix amt="83000"/>
            <a:lum/>
          </a:blip>
          <a:srcRect/>
          <a:stretch>
            <a:fillRect t="-9000" b="-9000"/>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8882380-39CD-692C-C883-52A741BAA05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D1F73B7-AC92-2030-1B0D-5E916B27BB0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C254C42-29D0-2A72-3853-2EBB931E7B1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A950623-34CE-4DFA-81A1-B9DE48703233}" type="datetimeFigureOut">
              <a:rPr lang="en-IN" smtClean="0"/>
              <a:t>03-04-2026</a:t>
            </a:fld>
            <a:endParaRPr lang="en-IN"/>
          </a:p>
        </p:txBody>
      </p:sp>
      <p:sp>
        <p:nvSpPr>
          <p:cNvPr id="5" name="Footer Placeholder 4">
            <a:extLst>
              <a:ext uri="{FF2B5EF4-FFF2-40B4-BE49-F238E27FC236}">
                <a16:creationId xmlns:a16="http://schemas.microsoft.com/office/drawing/2014/main" id="{386478F2-A69D-7F1B-1CFB-B09D7FA6030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DDFA5B02-73BC-E91C-B75F-9F6C8271792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FF29751-D31D-4F60-B88B-90D746C428B3}" type="slidenum">
              <a:rPr lang="en-IN" smtClean="0"/>
              <a:t>‹#›</a:t>
            </a:fld>
            <a:endParaRPr lang="en-IN"/>
          </a:p>
        </p:txBody>
      </p:sp>
    </p:spTree>
    <p:extLst>
      <p:ext uri="{BB962C8B-B14F-4D97-AF65-F5344CB8AC3E}">
        <p14:creationId xmlns:p14="http://schemas.microsoft.com/office/powerpoint/2010/main" val="218782544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hyperlink" Target="https://impact-sense-one.vercel.app/" TargetMode="Externa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524578E-685E-54CB-AC35-42424CE7FD31}"/>
              </a:ext>
            </a:extLst>
          </p:cNvPr>
          <p:cNvSpPr/>
          <p:nvPr/>
        </p:nvSpPr>
        <p:spPr>
          <a:xfrm>
            <a:off x="0" y="0"/>
            <a:ext cx="12192000" cy="6858000"/>
          </a:xfrm>
          <a:prstGeom prst="rect">
            <a:avLst/>
          </a:prstGeom>
          <a:solidFill>
            <a:schemeClr val="dk1">
              <a:alpha val="50000"/>
            </a:schemeClr>
          </a:solidFill>
        </p:spPr>
        <p:style>
          <a:lnRef idx="2">
            <a:schemeClr val="dk1">
              <a:shade val="15000"/>
            </a:schemeClr>
          </a:lnRef>
          <a:fillRef idx="1">
            <a:schemeClr val="dk1"/>
          </a:fillRef>
          <a:effectRef idx="0">
            <a:schemeClr val="dk1"/>
          </a:effectRef>
          <a:fontRef idx="minor">
            <a:schemeClr val="lt1"/>
          </a:fontRef>
        </p:style>
        <p:txBody>
          <a:bodyPr vert="horz" rtlCol="0" anchor="ctr"/>
          <a:lstStyle/>
          <a:p>
            <a:pPr algn="ctr"/>
            <a:endParaRPr lang="en-IN" sz="3600" b="1" dirty="0">
              <a:solidFill>
                <a:schemeClr val="accent2">
                  <a:lumMod val="75000"/>
                </a:schemeClr>
              </a:solidFill>
              <a:effectLst>
                <a:outerShdw blurRad="38100" dist="38100" dir="2700000" algn="tl">
                  <a:srgbClr val="000000">
                    <a:alpha val="43137"/>
                  </a:srgbClr>
                </a:outerShdw>
              </a:effectLst>
              <a:latin typeface="Arial Rounded MT Bold" panose="020F0704030504030204" pitchFamily="34" charset="0"/>
            </a:endParaRPr>
          </a:p>
        </p:txBody>
      </p:sp>
      <p:sp>
        <p:nvSpPr>
          <p:cNvPr id="5" name="TextBox 4">
            <a:extLst>
              <a:ext uri="{FF2B5EF4-FFF2-40B4-BE49-F238E27FC236}">
                <a16:creationId xmlns:a16="http://schemas.microsoft.com/office/drawing/2014/main" id="{F68D9B80-4102-4B5E-C8D7-1FC676D43365}"/>
              </a:ext>
            </a:extLst>
          </p:cNvPr>
          <p:cNvSpPr txBox="1"/>
          <p:nvPr/>
        </p:nvSpPr>
        <p:spPr>
          <a:xfrm>
            <a:off x="934065" y="2015612"/>
            <a:ext cx="10609008" cy="1569660"/>
          </a:xfrm>
          <a:prstGeom prst="rect">
            <a:avLst/>
          </a:prstGeom>
          <a:noFill/>
        </p:spPr>
        <p:txBody>
          <a:bodyPr wrap="square" rtlCol="0">
            <a:spAutoFit/>
          </a:bodyPr>
          <a:lstStyle/>
          <a:p>
            <a:pPr algn="ctr"/>
            <a:r>
              <a:rPr lang="en-GB" sz="4800" b="1" dirty="0">
                <a:solidFill>
                  <a:srgbClr val="FFC000"/>
                </a:solidFill>
                <a:latin typeface="Arial Black" panose="020B0A04020102020204" pitchFamily="34" charset="0"/>
              </a:rPr>
              <a:t>EARTHQUAKE IMPACT PREDICTION SYSTEM</a:t>
            </a:r>
            <a:endParaRPr lang="en-IN" sz="4800" b="1" dirty="0">
              <a:solidFill>
                <a:srgbClr val="FFC000"/>
              </a:solidFill>
              <a:latin typeface="Arial Black" panose="020B0A04020102020204" pitchFamily="34" charset="0"/>
            </a:endParaRPr>
          </a:p>
        </p:txBody>
      </p:sp>
      <p:sp>
        <p:nvSpPr>
          <p:cNvPr id="6" name="TextBox 5">
            <a:extLst>
              <a:ext uri="{FF2B5EF4-FFF2-40B4-BE49-F238E27FC236}">
                <a16:creationId xmlns:a16="http://schemas.microsoft.com/office/drawing/2014/main" id="{C699E459-4337-CB24-8A24-D4BA5301B00A}"/>
              </a:ext>
            </a:extLst>
          </p:cNvPr>
          <p:cNvSpPr txBox="1"/>
          <p:nvPr/>
        </p:nvSpPr>
        <p:spPr>
          <a:xfrm>
            <a:off x="5638800" y="2733368"/>
            <a:ext cx="914400" cy="914400"/>
          </a:xfrm>
          <a:prstGeom prst="rect">
            <a:avLst/>
          </a:prstGeom>
          <a:noFill/>
        </p:spPr>
        <p:txBody>
          <a:bodyPr wrap="square" rtlCol="0">
            <a:spAutoFit/>
          </a:bodyPr>
          <a:lstStyle/>
          <a:p>
            <a:endParaRPr lang="en-IN" dirty="0"/>
          </a:p>
        </p:txBody>
      </p:sp>
      <p:sp>
        <p:nvSpPr>
          <p:cNvPr id="7" name="TextBox 6">
            <a:extLst>
              <a:ext uri="{FF2B5EF4-FFF2-40B4-BE49-F238E27FC236}">
                <a16:creationId xmlns:a16="http://schemas.microsoft.com/office/drawing/2014/main" id="{134CAEEE-D67D-C058-EED4-9A1631B2E267}"/>
              </a:ext>
            </a:extLst>
          </p:cNvPr>
          <p:cNvSpPr txBox="1"/>
          <p:nvPr/>
        </p:nvSpPr>
        <p:spPr>
          <a:xfrm>
            <a:off x="1012724" y="3585272"/>
            <a:ext cx="10412360" cy="400110"/>
          </a:xfrm>
          <a:prstGeom prst="rect">
            <a:avLst/>
          </a:prstGeom>
          <a:noFill/>
        </p:spPr>
        <p:txBody>
          <a:bodyPr wrap="square" rtlCol="0">
            <a:spAutoFit/>
          </a:bodyPr>
          <a:lstStyle/>
          <a:p>
            <a:pPr algn="ctr"/>
            <a:r>
              <a:rPr lang="en-GB" sz="2000" dirty="0">
                <a:solidFill>
                  <a:schemeClr val="bg2"/>
                </a:solidFill>
                <a:latin typeface="Arial Rounded MT Bold" panose="020F0704030504030204" pitchFamily="34" charset="0"/>
                <a:cs typeface="Times New Roman" panose="02020603050405020304" pitchFamily="18" charset="0"/>
              </a:rPr>
              <a:t>Predicting Disaster Severity Based on User Input and Geographical Location</a:t>
            </a:r>
            <a:endParaRPr lang="en-IN" sz="2000" dirty="0">
              <a:solidFill>
                <a:schemeClr val="bg2"/>
              </a:solidFill>
              <a:latin typeface="Arial Rounded MT Bold" panose="020F0704030504030204" pitchFamily="34" charset="0"/>
              <a:cs typeface="Times New Roman" panose="02020603050405020304" pitchFamily="18" charset="0"/>
            </a:endParaRPr>
          </a:p>
        </p:txBody>
      </p:sp>
    </p:spTree>
    <p:extLst>
      <p:ext uri="{BB962C8B-B14F-4D97-AF65-F5344CB8AC3E}">
        <p14:creationId xmlns:p14="http://schemas.microsoft.com/office/powerpoint/2010/main" val="20906061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88000"/>
            <a:lum/>
          </a:blip>
          <a:srcRect/>
          <a:stretch>
            <a:fillRect t="-9000" b="-9000"/>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FEB6208-1215-702F-6D87-90399D22BC92}"/>
              </a:ext>
            </a:extLst>
          </p:cNvPr>
          <p:cNvSpPr/>
          <p:nvPr/>
        </p:nvSpPr>
        <p:spPr>
          <a:xfrm>
            <a:off x="0" y="0"/>
            <a:ext cx="12192000" cy="6858000"/>
          </a:xfrm>
          <a:prstGeom prst="rect">
            <a:avLst/>
          </a:prstGeom>
          <a:solidFill>
            <a:schemeClr val="dk1">
              <a:alpha val="50000"/>
            </a:schemeClr>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solidFill>
                <a:srgbClr val="F8DD12"/>
              </a:solidFill>
            </a:endParaRPr>
          </a:p>
        </p:txBody>
      </p:sp>
      <p:sp>
        <p:nvSpPr>
          <p:cNvPr id="3" name="TextBox 2">
            <a:extLst>
              <a:ext uri="{FF2B5EF4-FFF2-40B4-BE49-F238E27FC236}">
                <a16:creationId xmlns:a16="http://schemas.microsoft.com/office/drawing/2014/main" id="{01A10B80-A00D-28AD-6BD4-01FD60E6C364}"/>
              </a:ext>
            </a:extLst>
          </p:cNvPr>
          <p:cNvSpPr txBox="1"/>
          <p:nvPr/>
        </p:nvSpPr>
        <p:spPr>
          <a:xfrm>
            <a:off x="108155" y="852846"/>
            <a:ext cx="11572568" cy="830997"/>
          </a:xfrm>
          <a:prstGeom prst="rect">
            <a:avLst/>
          </a:prstGeom>
          <a:noFill/>
        </p:spPr>
        <p:txBody>
          <a:bodyPr wrap="square" rtlCol="0">
            <a:spAutoFit/>
          </a:bodyPr>
          <a:lstStyle/>
          <a:p>
            <a:pPr algn="ctr"/>
            <a:r>
              <a:rPr lang="en-GB" sz="4800" b="1" dirty="0">
                <a:solidFill>
                  <a:srgbClr val="FFC000"/>
                </a:solidFill>
                <a:latin typeface="Arial Black" panose="020B0A04020102020204" pitchFamily="34" charset="0"/>
              </a:rPr>
              <a:t>INTRODUCTION</a:t>
            </a:r>
            <a:endParaRPr lang="en-IN" sz="4800" b="1" dirty="0">
              <a:solidFill>
                <a:srgbClr val="FFC000"/>
              </a:solidFill>
              <a:latin typeface="Arial Black" panose="020B0A04020102020204" pitchFamily="34" charset="0"/>
            </a:endParaRPr>
          </a:p>
        </p:txBody>
      </p:sp>
      <p:sp>
        <p:nvSpPr>
          <p:cNvPr id="4" name="TextBox 3">
            <a:extLst>
              <a:ext uri="{FF2B5EF4-FFF2-40B4-BE49-F238E27FC236}">
                <a16:creationId xmlns:a16="http://schemas.microsoft.com/office/drawing/2014/main" id="{84EF2395-4CA9-6982-9F96-327F71153717}"/>
              </a:ext>
            </a:extLst>
          </p:cNvPr>
          <p:cNvSpPr txBox="1"/>
          <p:nvPr/>
        </p:nvSpPr>
        <p:spPr>
          <a:xfrm>
            <a:off x="835741" y="2536688"/>
            <a:ext cx="10697498" cy="2308324"/>
          </a:xfrm>
          <a:prstGeom prst="rect">
            <a:avLst/>
          </a:prstGeom>
          <a:noFill/>
        </p:spPr>
        <p:txBody>
          <a:bodyPr wrap="square" rtlCol="0">
            <a:spAutoFit/>
          </a:bodyPr>
          <a:lstStyle/>
          <a:p>
            <a:pPr marL="285750" indent="-285750">
              <a:buFont typeface="Arial" panose="020B0604020202020204" pitchFamily="34" charset="0"/>
              <a:buChar char="•"/>
            </a:pPr>
            <a:r>
              <a:rPr lang="en-GB" sz="1600" dirty="0">
                <a:solidFill>
                  <a:schemeClr val="bg1">
                    <a:lumMod val="95000"/>
                  </a:schemeClr>
                </a:solidFill>
                <a:latin typeface="Arial Rounded MT Bold" panose="020F0704030504030204" pitchFamily="34" charset="0"/>
              </a:rPr>
              <a:t>Earthquakes are natural hazards that can lead to significant destruction of human life, infrastructure, and the environment. Accurately predicting their impact is essential for efficient disaster management, minimizing risks, and ensuring the safety of people. However, conventional methods often lack the ability to deliver precise and real-time predictions.</a:t>
            </a:r>
          </a:p>
          <a:p>
            <a:endParaRPr lang="en-GB" sz="1600" dirty="0">
              <a:solidFill>
                <a:schemeClr val="bg1">
                  <a:lumMod val="95000"/>
                </a:schemeClr>
              </a:solidFill>
              <a:latin typeface="Arial Rounded MT Bold" panose="020F0704030504030204" pitchFamily="34" charset="0"/>
            </a:endParaRPr>
          </a:p>
          <a:p>
            <a:pPr marL="285750" indent="-285750">
              <a:buFont typeface="Arial" panose="020B0604020202020204" pitchFamily="34" charset="0"/>
              <a:buChar char="•"/>
            </a:pPr>
            <a:r>
              <a:rPr lang="en-GB" sz="1600" dirty="0">
                <a:solidFill>
                  <a:schemeClr val="bg1">
                    <a:lumMod val="95000"/>
                  </a:schemeClr>
                </a:solidFill>
                <a:latin typeface="Arial Rounded MT Bold" panose="020F0704030504030204" pitchFamily="34" charset="0"/>
              </a:rPr>
              <a:t>To overcome these limitations, our project introduces an AI-based earthquake impact prediction system that utilizes user inputs along with geographical location data. This system generates intelligent and personalized predictions, enabling users to assess potential risks and take appropriate preventive measures in advance.</a:t>
            </a:r>
            <a:endParaRPr lang="en-IN" sz="1600" dirty="0">
              <a:solidFill>
                <a:schemeClr val="bg1">
                  <a:lumMod val="95000"/>
                </a:schemeClr>
              </a:solidFill>
              <a:latin typeface="Arial Rounded MT Bold" panose="020F0704030504030204" pitchFamily="34" charset="0"/>
            </a:endParaRPr>
          </a:p>
        </p:txBody>
      </p:sp>
    </p:spTree>
    <p:extLst>
      <p:ext uri="{BB962C8B-B14F-4D97-AF65-F5344CB8AC3E}">
        <p14:creationId xmlns:p14="http://schemas.microsoft.com/office/powerpoint/2010/main" val="35238446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1000"/>
                                        <p:tgtEl>
                                          <p:spTgt spid="4">
                                            <p:txEl>
                                              <p:pRg st="2" end="2"/>
                                            </p:txEl>
                                          </p:spTgt>
                                        </p:tgtEl>
                                      </p:cBhvr>
                                    </p:animEffect>
                                    <p:anim calcmode="lin" valueType="num">
                                      <p:cBhvr>
                                        <p:cTn id="13"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allAtOnce"/>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A98448D-11A4-9C21-0FC3-759EB5BF1B0D}"/>
              </a:ext>
            </a:extLst>
          </p:cNvPr>
          <p:cNvSpPr/>
          <p:nvPr/>
        </p:nvSpPr>
        <p:spPr>
          <a:xfrm>
            <a:off x="0" y="0"/>
            <a:ext cx="12192000" cy="6858000"/>
          </a:xfrm>
          <a:prstGeom prst="rect">
            <a:avLst/>
          </a:prstGeom>
          <a:solidFill>
            <a:schemeClr val="dk1">
              <a:alpha val="50000"/>
            </a:schemeClr>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dirty="0"/>
          </a:p>
        </p:txBody>
      </p:sp>
      <p:sp>
        <p:nvSpPr>
          <p:cNvPr id="4" name="TextBox 3">
            <a:extLst>
              <a:ext uri="{FF2B5EF4-FFF2-40B4-BE49-F238E27FC236}">
                <a16:creationId xmlns:a16="http://schemas.microsoft.com/office/drawing/2014/main" id="{33E33F1A-6598-B8D7-45E1-6811CDDC379B}"/>
              </a:ext>
            </a:extLst>
          </p:cNvPr>
          <p:cNvSpPr txBox="1"/>
          <p:nvPr/>
        </p:nvSpPr>
        <p:spPr>
          <a:xfrm>
            <a:off x="1946785" y="943898"/>
            <a:ext cx="7924801" cy="830997"/>
          </a:xfrm>
          <a:prstGeom prst="rect">
            <a:avLst/>
          </a:prstGeom>
          <a:noFill/>
        </p:spPr>
        <p:txBody>
          <a:bodyPr wrap="square" rtlCol="0">
            <a:spAutoFit/>
          </a:bodyPr>
          <a:lstStyle/>
          <a:p>
            <a:pPr algn="ctr"/>
            <a:r>
              <a:rPr lang="en-GB" sz="4800" b="1" dirty="0">
                <a:solidFill>
                  <a:srgbClr val="FFC000"/>
                </a:solidFill>
                <a:latin typeface="Arial Black" panose="020B0A04020102020204" pitchFamily="34" charset="0"/>
              </a:rPr>
              <a:t>PROBLEM STATEMENT</a:t>
            </a:r>
            <a:endParaRPr lang="en-IN" sz="4800" b="1" dirty="0">
              <a:solidFill>
                <a:srgbClr val="FFC000"/>
              </a:solidFill>
              <a:latin typeface="Arial Black" panose="020B0A04020102020204" pitchFamily="34" charset="0"/>
            </a:endParaRPr>
          </a:p>
        </p:txBody>
      </p:sp>
      <p:sp>
        <p:nvSpPr>
          <p:cNvPr id="5" name="TextBox 4">
            <a:extLst>
              <a:ext uri="{FF2B5EF4-FFF2-40B4-BE49-F238E27FC236}">
                <a16:creationId xmlns:a16="http://schemas.microsoft.com/office/drawing/2014/main" id="{F1FDAC07-1F6F-E5B0-AF67-3FD1DC9C5E9D}"/>
              </a:ext>
            </a:extLst>
          </p:cNvPr>
          <p:cNvSpPr txBox="1"/>
          <p:nvPr/>
        </p:nvSpPr>
        <p:spPr>
          <a:xfrm>
            <a:off x="835741" y="2192595"/>
            <a:ext cx="11031793" cy="3293209"/>
          </a:xfrm>
          <a:prstGeom prst="rect">
            <a:avLst/>
          </a:prstGeom>
          <a:noFill/>
        </p:spPr>
        <p:txBody>
          <a:bodyPr wrap="square" rtlCol="0">
            <a:spAutoFit/>
          </a:bodyPr>
          <a:lstStyle/>
          <a:p>
            <a:pPr marL="285750" indent="-285750">
              <a:buFont typeface="Arial" panose="020B0604020202020204" pitchFamily="34" charset="0"/>
              <a:buChar char="•"/>
            </a:pPr>
            <a:r>
              <a:rPr lang="en-GB" sz="1600" dirty="0">
                <a:solidFill>
                  <a:schemeClr val="bg1"/>
                </a:solidFill>
                <a:latin typeface="Arial Rounded MT Bold" panose="020F0704030504030204" pitchFamily="34" charset="0"/>
              </a:rPr>
              <a:t>Earthquakes occur suddenly without prior warning and can cause severe damage to human life, infrastructure, and the environment. It is difficult for people to understand the level of impact and risk associated with an earthquake.</a:t>
            </a:r>
          </a:p>
          <a:p>
            <a:pPr marL="285750" indent="-285750">
              <a:buFont typeface="Arial" panose="020B0604020202020204" pitchFamily="34" charset="0"/>
              <a:buChar char="•"/>
            </a:pPr>
            <a:endParaRPr lang="en-GB" sz="1600" dirty="0">
              <a:solidFill>
                <a:schemeClr val="bg1"/>
              </a:solidFill>
              <a:latin typeface="Arial Rounded MT Bold" panose="020F0704030504030204" pitchFamily="34" charset="0"/>
            </a:endParaRPr>
          </a:p>
          <a:p>
            <a:pPr marL="285750" indent="-285750">
              <a:buFont typeface="Arial" panose="020B0604020202020204" pitchFamily="34" charset="0"/>
              <a:buChar char="•"/>
            </a:pPr>
            <a:r>
              <a:rPr lang="en-GB" sz="1600" dirty="0">
                <a:solidFill>
                  <a:schemeClr val="bg1"/>
                </a:solidFill>
                <a:latin typeface="Arial Rounded MT Bold" panose="020F0704030504030204" pitchFamily="34" charset="0"/>
              </a:rPr>
              <a:t>Existing traditional systems do not provide accurate, real-time, and reliable predictions. Most systems fail to consider important factors such as geographical location and user-specific conditions.</a:t>
            </a:r>
          </a:p>
          <a:p>
            <a:pPr marL="285750" indent="-285750">
              <a:buFont typeface="Arial" panose="020B0604020202020204" pitchFamily="34" charset="0"/>
              <a:buChar char="•"/>
            </a:pPr>
            <a:endParaRPr lang="en-GB" sz="1600" dirty="0">
              <a:solidFill>
                <a:schemeClr val="bg1"/>
              </a:solidFill>
              <a:latin typeface="Arial Rounded MT Bold" panose="020F0704030504030204" pitchFamily="34" charset="0"/>
            </a:endParaRPr>
          </a:p>
          <a:p>
            <a:pPr marL="285750" indent="-285750">
              <a:buFont typeface="Arial" panose="020B0604020202020204" pitchFamily="34" charset="0"/>
              <a:buChar char="•"/>
            </a:pPr>
            <a:r>
              <a:rPr lang="en-GB" sz="1600" dirty="0">
                <a:solidFill>
                  <a:schemeClr val="bg1"/>
                </a:solidFill>
                <a:latin typeface="Arial Rounded MT Bold" panose="020F0704030504030204" pitchFamily="34" charset="0"/>
              </a:rPr>
              <a:t>There is a lack of personalized prediction systems that can guide individuals based on their situation. Due to this, people are unable to take proper preventive measures in advance.</a:t>
            </a:r>
          </a:p>
          <a:p>
            <a:pPr marL="285750" indent="-285750">
              <a:buFont typeface="Arial" panose="020B0604020202020204" pitchFamily="34" charset="0"/>
              <a:buChar char="•"/>
            </a:pPr>
            <a:endParaRPr lang="en-GB" sz="1600" dirty="0">
              <a:solidFill>
                <a:schemeClr val="bg1"/>
              </a:solidFill>
              <a:latin typeface="Arial Rounded MT Bold" panose="020F0704030504030204" pitchFamily="34" charset="0"/>
            </a:endParaRPr>
          </a:p>
          <a:p>
            <a:pPr marL="285750" indent="-285750">
              <a:buFont typeface="Arial" panose="020B0604020202020204" pitchFamily="34" charset="0"/>
              <a:buChar char="•"/>
            </a:pPr>
            <a:r>
              <a:rPr lang="en-GB" sz="1600" dirty="0">
                <a:solidFill>
                  <a:schemeClr val="bg1"/>
                </a:solidFill>
                <a:latin typeface="Arial Rounded MT Bold" panose="020F0704030504030204" pitchFamily="34" charset="0"/>
              </a:rPr>
              <a:t>This creates a need for an intelligent system that can </a:t>
            </a:r>
            <a:r>
              <a:rPr lang="en-GB" sz="1600" dirty="0" err="1">
                <a:solidFill>
                  <a:schemeClr val="bg1"/>
                </a:solidFill>
                <a:latin typeface="Arial Rounded MT Bold" panose="020F0704030504030204" pitchFamily="34" charset="0"/>
              </a:rPr>
              <a:t>analyze</a:t>
            </a:r>
            <a:r>
              <a:rPr lang="en-GB" sz="1600" dirty="0">
                <a:solidFill>
                  <a:schemeClr val="bg1"/>
                </a:solidFill>
                <a:latin typeface="Arial Rounded MT Bold" panose="020F0704030504030204" pitchFamily="34" charset="0"/>
              </a:rPr>
              <a:t> data and predict earthquake impact effectively. The system should provide accurate, real-time, and user-specific predictions to improve safety and awareness.</a:t>
            </a:r>
            <a:endParaRPr lang="en-IN" sz="1600" dirty="0">
              <a:solidFill>
                <a:schemeClr val="bg1"/>
              </a:solidFill>
              <a:latin typeface="Arial Rounded MT Bold" panose="020F0704030504030204" pitchFamily="34" charset="0"/>
            </a:endParaRPr>
          </a:p>
        </p:txBody>
      </p:sp>
    </p:spTree>
    <p:extLst>
      <p:ext uri="{BB962C8B-B14F-4D97-AF65-F5344CB8AC3E}">
        <p14:creationId xmlns:p14="http://schemas.microsoft.com/office/powerpoint/2010/main" val="33173677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1000"/>
                                        <p:tgtEl>
                                          <p:spTgt spid="5">
                                            <p:txEl>
                                              <p:pRg st="0" end="0"/>
                                            </p:txEl>
                                          </p:spTgt>
                                        </p:tgtEl>
                                      </p:cBhvr>
                                    </p:animEffect>
                                    <p:anim calcmode="lin" valueType="num">
                                      <p:cBhvr>
                                        <p:cTn id="8"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fade">
                                      <p:cBhvr>
                                        <p:cTn id="12" dur="1000"/>
                                        <p:tgtEl>
                                          <p:spTgt spid="5">
                                            <p:txEl>
                                              <p:pRg st="2" end="2"/>
                                            </p:txEl>
                                          </p:spTgt>
                                        </p:tgtEl>
                                      </p:cBhvr>
                                    </p:animEffect>
                                    <p:anim calcmode="lin" valueType="num">
                                      <p:cBhvr>
                                        <p:cTn id="13"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5">
                                            <p:txEl>
                                              <p:pRg st="2" end="2"/>
                                            </p:txEl>
                                          </p:spTgt>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5">
                                            <p:txEl>
                                              <p:pRg st="4" end="4"/>
                                            </p:txEl>
                                          </p:spTgt>
                                        </p:tgtEl>
                                        <p:attrNameLst>
                                          <p:attrName>style.visibility</p:attrName>
                                        </p:attrNameLst>
                                      </p:cBhvr>
                                      <p:to>
                                        <p:strVal val="visible"/>
                                      </p:to>
                                    </p:set>
                                    <p:animEffect transition="in" filter="fade">
                                      <p:cBhvr>
                                        <p:cTn id="17" dur="1000"/>
                                        <p:tgtEl>
                                          <p:spTgt spid="5">
                                            <p:txEl>
                                              <p:pRg st="4" end="4"/>
                                            </p:txEl>
                                          </p:spTgt>
                                        </p:tgtEl>
                                      </p:cBhvr>
                                    </p:animEffect>
                                    <p:anim calcmode="lin" valueType="num">
                                      <p:cBhvr>
                                        <p:cTn id="18" dur="1000" fill="hold"/>
                                        <p:tgtEl>
                                          <p:spTgt spid="5">
                                            <p:txEl>
                                              <p:pRg st="4" end="4"/>
                                            </p:txEl>
                                          </p:spTgt>
                                        </p:tgtEl>
                                        <p:attrNameLst>
                                          <p:attrName>ppt_x</p:attrName>
                                        </p:attrNameLst>
                                      </p:cBhvr>
                                      <p:tavLst>
                                        <p:tav tm="0">
                                          <p:val>
                                            <p:strVal val="#ppt_x"/>
                                          </p:val>
                                        </p:tav>
                                        <p:tav tm="100000">
                                          <p:val>
                                            <p:strVal val="#ppt_x"/>
                                          </p:val>
                                        </p:tav>
                                      </p:tavLst>
                                    </p:anim>
                                    <p:anim calcmode="lin" valueType="num">
                                      <p:cBhvr>
                                        <p:cTn id="19" dur="1000" fill="hold"/>
                                        <p:tgtEl>
                                          <p:spTgt spid="5">
                                            <p:txEl>
                                              <p:pRg st="4" end="4"/>
                                            </p:txEl>
                                          </p:spTgt>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5">
                                            <p:txEl>
                                              <p:pRg st="6" end="6"/>
                                            </p:txEl>
                                          </p:spTgt>
                                        </p:tgtEl>
                                        <p:attrNameLst>
                                          <p:attrName>style.visibility</p:attrName>
                                        </p:attrNameLst>
                                      </p:cBhvr>
                                      <p:to>
                                        <p:strVal val="visible"/>
                                      </p:to>
                                    </p:set>
                                    <p:animEffect transition="in" filter="fade">
                                      <p:cBhvr>
                                        <p:cTn id="22" dur="1000"/>
                                        <p:tgtEl>
                                          <p:spTgt spid="5">
                                            <p:txEl>
                                              <p:pRg st="6" end="6"/>
                                            </p:txEl>
                                          </p:spTgt>
                                        </p:tgtEl>
                                      </p:cBhvr>
                                    </p:animEffect>
                                    <p:anim calcmode="lin" valueType="num">
                                      <p:cBhvr>
                                        <p:cTn id="23" dur="1000" fill="hold"/>
                                        <p:tgtEl>
                                          <p:spTgt spid="5">
                                            <p:txEl>
                                              <p:pRg st="6" end="6"/>
                                            </p:txEl>
                                          </p:spTgt>
                                        </p:tgtEl>
                                        <p:attrNameLst>
                                          <p:attrName>ppt_x</p:attrName>
                                        </p:attrNameLst>
                                      </p:cBhvr>
                                      <p:tavLst>
                                        <p:tav tm="0">
                                          <p:val>
                                            <p:strVal val="#ppt_x"/>
                                          </p:val>
                                        </p:tav>
                                        <p:tav tm="100000">
                                          <p:val>
                                            <p:strVal val="#ppt_x"/>
                                          </p:val>
                                        </p:tav>
                                      </p:tavLst>
                                    </p:anim>
                                    <p:anim calcmode="lin" valueType="num">
                                      <p:cBhvr>
                                        <p:cTn id="24" dur="1000" fill="hold"/>
                                        <p:tgtEl>
                                          <p:spTgt spid="5">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allAtOnce"/>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286A35E-C3DF-2B28-AFDE-09C44B3E0D89}"/>
              </a:ext>
            </a:extLst>
          </p:cNvPr>
          <p:cNvSpPr/>
          <p:nvPr/>
        </p:nvSpPr>
        <p:spPr>
          <a:xfrm>
            <a:off x="0" y="0"/>
            <a:ext cx="12192000" cy="6858000"/>
          </a:xfrm>
          <a:prstGeom prst="rect">
            <a:avLst/>
          </a:prstGeom>
          <a:solidFill>
            <a:schemeClr val="dk1">
              <a:alpha val="52000"/>
            </a:schemeClr>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dirty="0"/>
          </a:p>
        </p:txBody>
      </p:sp>
      <p:sp>
        <p:nvSpPr>
          <p:cNvPr id="4" name="TextBox 3">
            <a:extLst>
              <a:ext uri="{FF2B5EF4-FFF2-40B4-BE49-F238E27FC236}">
                <a16:creationId xmlns:a16="http://schemas.microsoft.com/office/drawing/2014/main" id="{46B0B46E-058C-BA7C-C943-F075C81F48BA}"/>
              </a:ext>
            </a:extLst>
          </p:cNvPr>
          <p:cNvSpPr txBox="1"/>
          <p:nvPr/>
        </p:nvSpPr>
        <p:spPr>
          <a:xfrm>
            <a:off x="2153267" y="757082"/>
            <a:ext cx="8062452" cy="830997"/>
          </a:xfrm>
          <a:prstGeom prst="rect">
            <a:avLst/>
          </a:prstGeom>
          <a:noFill/>
        </p:spPr>
        <p:txBody>
          <a:bodyPr wrap="square" rtlCol="0">
            <a:spAutoFit/>
          </a:bodyPr>
          <a:lstStyle/>
          <a:p>
            <a:pPr algn="ctr"/>
            <a:r>
              <a:rPr lang="en-GB" sz="4800" b="1" dirty="0">
                <a:solidFill>
                  <a:srgbClr val="FFC000"/>
                </a:solidFill>
                <a:latin typeface="Arial Black" panose="020B0A04020102020204" pitchFamily="34" charset="0"/>
              </a:rPr>
              <a:t>PROBLEM SOLUTION</a:t>
            </a:r>
            <a:endParaRPr lang="en-IN" sz="4800" b="1" dirty="0">
              <a:solidFill>
                <a:srgbClr val="FFC000"/>
              </a:solidFill>
              <a:latin typeface="Arial Black" panose="020B0A04020102020204" pitchFamily="34" charset="0"/>
            </a:endParaRPr>
          </a:p>
        </p:txBody>
      </p:sp>
      <p:sp>
        <p:nvSpPr>
          <p:cNvPr id="5" name="TextBox 4">
            <a:extLst>
              <a:ext uri="{FF2B5EF4-FFF2-40B4-BE49-F238E27FC236}">
                <a16:creationId xmlns:a16="http://schemas.microsoft.com/office/drawing/2014/main" id="{9CD8128A-AFAF-3EEF-D458-400108D7A521}"/>
              </a:ext>
            </a:extLst>
          </p:cNvPr>
          <p:cNvSpPr txBox="1"/>
          <p:nvPr/>
        </p:nvSpPr>
        <p:spPr>
          <a:xfrm>
            <a:off x="403122" y="1494624"/>
            <a:ext cx="10953135" cy="5016758"/>
          </a:xfrm>
          <a:prstGeom prst="rect">
            <a:avLst/>
          </a:prstGeom>
          <a:noFill/>
        </p:spPr>
        <p:txBody>
          <a:bodyPr wrap="square" rtlCol="0">
            <a:spAutoFit/>
          </a:bodyPr>
          <a:lstStyle/>
          <a:p>
            <a:pPr marL="285750" indent="-285750">
              <a:buFont typeface="Arial" panose="020B0604020202020204" pitchFamily="34" charset="0"/>
              <a:buChar char="•"/>
            </a:pPr>
            <a:endParaRPr lang="en-GB" sz="1600" dirty="0">
              <a:solidFill>
                <a:schemeClr val="bg1">
                  <a:lumMod val="95000"/>
                </a:schemeClr>
              </a:solidFill>
              <a:latin typeface="Arial Rounded MT Bold" panose="020F0704030504030204" pitchFamily="34" charset="0"/>
            </a:endParaRPr>
          </a:p>
          <a:p>
            <a:pPr marL="285750" indent="-285750">
              <a:buFont typeface="Arial" panose="020B0604020202020204" pitchFamily="34" charset="0"/>
              <a:buChar char="•"/>
            </a:pPr>
            <a:r>
              <a:rPr lang="en-GB" sz="1600" dirty="0">
                <a:solidFill>
                  <a:schemeClr val="bg1">
                    <a:lumMod val="95000"/>
                  </a:schemeClr>
                </a:solidFill>
                <a:latin typeface="Arial Rounded MT Bold" panose="020F0704030504030204" pitchFamily="34" charset="0"/>
              </a:rPr>
              <a:t>The proposed system is an AI-based earthquake impact prediction system designed to </a:t>
            </a:r>
            <a:r>
              <a:rPr lang="en-GB" sz="1600" dirty="0" err="1">
                <a:solidFill>
                  <a:schemeClr val="bg1">
                    <a:lumMod val="95000"/>
                  </a:schemeClr>
                </a:solidFill>
                <a:latin typeface="Arial Rounded MT Bold" panose="020F0704030504030204" pitchFamily="34" charset="0"/>
              </a:rPr>
              <a:t>analyze</a:t>
            </a:r>
            <a:r>
              <a:rPr lang="en-GB" sz="1600" dirty="0">
                <a:solidFill>
                  <a:schemeClr val="bg1">
                    <a:lumMod val="95000"/>
                  </a:schemeClr>
                </a:solidFill>
                <a:latin typeface="Arial Rounded MT Bold" panose="020F0704030504030204" pitchFamily="34" charset="0"/>
              </a:rPr>
              <a:t> earthquake data and predict impact levels accurately.</a:t>
            </a:r>
          </a:p>
          <a:p>
            <a:endParaRPr lang="en-GB" sz="1600" dirty="0">
              <a:solidFill>
                <a:schemeClr val="bg1">
                  <a:lumMod val="95000"/>
                </a:schemeClr>
              </a:solidFill>
              <a:latin typeface="Arial Rounded MT Bold" panose="020F0704030504030204" pitchFamily="34" charset="0"/>
            </a:endParaRPr>
          </a:p>
          <a:p>
            <a:pPr marL="285750" indent="-285750">
              <a:buFont typeface="Arial" panose="020B0604020202020204" pitchFamily="34" charset="0"/>
              <a:buChar char="•"/>
            </a:pPr>
            <a:r>
              <a:rPr lang="en-GB" sz="1600" dirty="0">
                <a:solidFill>
                  <a:schemeClr val="bg1">
                    <a:lumMod val="95000"/>
                  </a:schemeClr>
                </a:solidFill>
                <a:latin typeface="Arial Rounded MT Bold" panose="020F0704030504030204" pitchFamily="34" charset="0"/>
              </a:rPr>
              <a:t>The system uses important seismic parameters such as:</a:t>
            </a:r>
          </a:p>
          <a:p>
            <a:r>
              <a:rPr lang="en-GB" sz="1600" dirty="0">
                <a:solidFill>
                  <a:schemeClr val="bg1">
                    <a:lumMod val="95000"/>
                  </a:schemeClr>
                </a:solidFill>
                <a:latin typeface="Arial Rounded MT Bold" panose="020F0704030504030204" pitchFamily="34" charset="0"/>
              </a:rPr>
              <a:t>        - Magnitude: Measures the strength of the earthquake</a:t>
            </a:r>
          </a:p>
          <a:p>
            <a:r>
              <a:rPr lang="en-GB" sz="1600" dirty="0">
                <a:solidFill>
                  <a:schemeClr val="bg1">
                    <a:lumMod val="95000"/>
                  </a:schemeClr>
                </a:solidFill>
                <a:latin typeface="Arial Rounded MT Bold" panose="020F0704030504030204" pitchFamily="34" charset="0"/>
              </a:rPr>
              <a:t>        - Depth: Indicates how deep the earthquake occurred</a:t>
            </a:r>
          </a:p>
          <a:p>
            <a:r>
              <a:rPr lang="en-GB" sz="1600" dirty="0">
                <a:solidFill>
                  <a:schemeClr val="bg1">
                    <a:lumMod val="95000"/>
                  </a:schemeClr>
                </a:solidFill>
                <a:latin typeface="Arial Rounded MT Bold" panose="020F0704030504030204" pitchFamily="34" charset="0"/>
              </a:rPr>
              <a:t>        - CDI (Community Determined Intensity): Represents how people experienced the earthquake</a:t>
            </a:r>
          </a:p>
          <a:p>
            <a:r>
              <a:rPr lang="en-GB" sz="1600" dirty="0">
                <a:solidFill>
                  <a:schemeClr val="bg1">
                    <a:lumMod val="95000"/>
                  </a:schemeClr>
                </a:solidFill>
                <a:latin typeface="Arial Rounded MT Bold" panose="020F0704030504030204" pitchFamily="34" charset="0"/>
              </a:rPr>
              <a:t>        - MMI (Modified Mercalli Intensity): Measures the intensity of shaking and damage</a:t>
            </a:r>
          </a:p>
          <a:p>
            <a:r>
              <a:rPr lang="en-GB" sz="1600" dirty="0">
                <a:solidFill>
                  <a:schemeClr val="bg1">
                    <a:lumMod val="95000"/>
                  </a:schemeClr>
                </a:solidFill>
                <a:latin typeface="Arial Rounded MT Bold" panose="020F0704030504030204" pitchFamily="34" charset="0"/>
              </a:rPr>
              <a:t>        - SIG (Significance): Indicates the overall impact and importance of the earthquake event</a:t>
            </a:r>
          </a:p>
          <a:p>
            <a:endParaRPr lang="en-GB" sz="1600" dirty="0">
              <a:solidFill>
                <a:schemeClr val="bg1">
                  <a:lumMod val="95000"/>
                </a:schemeClr>
              </a:solidFill>
              <a:latin typeface="Arial Rounded MT Bold" panose="020F0704030504030204" pitchFamily="34" charset="0"/>
            </a:endParaRPr>
          </a:p>
          <a:p>
            <a:pPr marL="285750" indent="-285750">
              <a:buFont typeface="Arial" panose="020B0604020202020204" pitchFamily="34" charset="0"/>
              <a:buChar char="•"/>
            </a:pPr>
            <a:r>
              <a:rPr lang="en-GB" sz="1600" dirty="0">
                <a:solidFill>
                  <a:schemeClr val="bg1">
                    <a:lumMod val="95000"/>
                  </a:schemeClr>
                </a:solidFill>
                <a:latin typeface="Arial Rounded MT Bold" panose="020F0704030504030204" pitchFamily="34" charset="0"/>
              </a:rPr>
              <a:t>These parameters are taken as input and processed using machine learning algorithms. The system </a:t>
            </a:r>
            <a:r>
              <a:rPr lang="en-GB" sz="1600" dirty="0" err="1">
                <a:solidFill>
                  <a:schemeClr val="bg1">
                    <a:lumMod val="95000"/>
                  </a:schemeClr>
                </a:solidFill>
                <a:latin typeface="Arial Rounded MT Bold" panose="020F0704030504030204" pitchFamily="34" charset="0"/>
              </a:rPr>
              <a:t>analyzes</a:t>
            </a:r>
            <a:r>
              <a:rPr lang="en-GB" sz="1600" dirty="0">
                <a:solidFill>
                  <a:schemeClr val="bg1">
                    <a:lumMod val="95000"/>
                  </a:schemeClr>
                </a:solidFill>
                <a:latin typeface="Arial Rounded MT Bold" panose="020F0704030504030204" pitchFamily="34" charset="0"/>
              </a:rPr>
              <a:t> patterns in the data to understand the relationship between these parameters and earthquake impact.</a:t>
            </a:r>
          </a:p>
          <a:p>
            <a:pPr marL="285750" indent="-285750">
              <a:buFont typeface="Arial" panose="020B0604020202020204" pitchFamily="34" charset="0"/>
              <a:buChar char="•"/>
            </a:pPr>
            <a:endParaRPr lang="en-GB" sz="1600" dirty="0">
              <a:solidFill>
                <a:schemeClr val="bg1">
                  <a:lumMod val="95000"/>
                </a:schemeClr>
              </a:solidFill>
              <a:latin typeface="Arial Rounded MT Bold" panose="020F0704030504030204" pitchFamily="34" charset="0"/>
            </a:endParaRPr>
          </a:p>
          <a:p>
            <a:pPr marL="285750" indent="-285750">
              <a:buFont typeface="Arial" panose="020B0604020202020204" pitchFamily="34" charset="0"/>
              <a:buChar char="•"/>
            </a:pPr>
            <a:r>
              <a:rPr lang="en-GB" sz="1600" dirty="0">
                <a:solidFill>
                  <a:schemeClr val="bg1">
                    <a:lumMod val="95000"/>
                  </a:schemeClr>
                </a:solidFill>
                <a:latin typeface="Arial Rounded MT Bold" panose="020F0704030504030204" pitchFamily="34" charset="0"/>
              </a:rPr>
              <a:t>Models such as Logistic Regression, Decision Tree, and Random Forest are used for prediction. Based on the analysis, the system predicts the impact level as Low, Moderate, or High.</a:t>
            </a:r>
          </a:p>
          <a:p>
            <a:pPr marL="285750" indent="-285750">
              <a:buFont typeface="Arial" panose="020B0604020202020204" pitchFamily="34" charset="0"/>
              <a:buChar char="•"/>
            </a:pPr>
            <a:endParaRPr lang="en-GB" sz="1600" dirty="0">
              <a:solidFill>
                <a:schemeClr val="bg1">
                  <a:lumMod val="95000"/>
                </a:schemeClr>
              </a:solidFill>
              <a:latin typeface="Arial Rounded MT Bold" panose="020F0704030504030204" pitchFamily="34" charset="0"/>
            </a:endParaRPr>
          </a:p>
          <a:p>
            <a:pPr marL="285750" indent="-285750">
              <a:buFont typeface="Arial" panose="020B0604020202020204" pitchFamily="34" charset="0"/>
              <a:buChar char="•"/>
            </a:pPr>
            <a:r>
              <a:rPr lang="en-GB" sz="1600" dirty="0">
                <a:solidFill>
                  <a:schemeClr val="bg1">
                    <a:lumMod val="95000"/>
                  </a:schemeClr>
                </a:solidFill>
                <a:latin typeface="Arial Rounded MT Bold" panose="020F0704030504030204" pitchFamily="34" charset="0"/>
              </a:rPr>
              <a:t>The system provides fast and reliable predictions to help in disaster awareness and preparedness. It helps users understand the severity of earthquakes and take necessary precautions in advance.</a:t>
            </a:r>
            <a:endParaRPr lang="en-IN" sz="1600" dirty="0">
              <a:solidFill>
                <a:schemeClr val="bg1">
                  <a:lumMod val="95000"/>
                </a:schemeClr>
              </a:solidFill>
              <a:latin typeface="Arial Rounded MT Bold" panose="020F0704030504030204" pitchFamily="34" charset="0"/>
            </a:endParaRPr>
          </a:p>
        </p:txBody>
      </p:sp>
    </p:spTree>
    <p:extLst>
      <p:ext uri="{BB962C8B-B14F-4D97-AF65-F5344CB8AC3E}">
        <p14:creationId xmlns:p14="http://schemas.microsoft.com/office/powerpoint/2010/main" val="6964530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fade">
                                      <p:cBhvr>
                                        <p:cTn id="7" dur="1000"/>
                                        <p:tgtEl>
                                          <p:spTgt spid="5">
                                            <p:txEl>
                                              <p:pRg st="1" end="1"/>
                                            </p:txEl>
                                          </p:spTgt>
                                        </p:tgtEl>
                                      </p:cBhvr>
                                    </p:animEffect>
                                    <p:anim calcmode="lin" valueType="num">
                                      <p:cBhvr>
                                        <p:cTn id="8" dur="10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5">
                                            <p:txEl>
                                              <p:pRg st="3" end="3"/>
                                            </p:txEl>
                                          </p:spTgt>
                                        </p:tgtEl>
                                        <p:attrNameLst>
                                          <p:attrName>style.visibility</p:attrName>
                                        </p:attrNameLst>
                                      </p:cBhvr>
                                      <p:to>
                                        <p:strVal val="visible"/>
                                      </p:to>
                                    </p:set>
                                    <p:animEffect transition="in" filter="fade">
                                      <p:cBhvr>
                                        <p:cTn id="12" dur="1000"/>
                                        <p:tgtEl>
                                          <p:spTgt spid="5">
                                            <p:txEl>
                                              <p:pRg st="3" end="3"/>
                                            </p:txEl>
                                          </p:spTgt>
                                        </p:tgtEl>
                                      </p:cBhvr>
                                    </p:animEffect>
                                    <p:anim calcmode="lin" valueType="num">
                                      <p:cBhvr>
                                        <p:cTn id="13" dur="1000" fill="hold"/>
                                        <p:tgtEl>
                                          <p:spTgt spid="5">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5">
                                            <p:txEl>
                                              <p:pRg st="3" end="3"/>
                                            </p:txEl>
                                          </p:spTgt>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5">
                                            <p:txEl>
                                              <p:pRg st="4" end="4"/>
                                            </p:txEl>
                                          </p:spTgt>
                                        </p:tgtEl>
                                        <p:attrNameLst>
                                          <p:attrName>style.visibility</p:attrName>
                                        </p:attrNameLst>
                                      </p:cBhvr>
                                      <p:to>
                                        <p:strVal val="visible"/>
                                      </p:to>
                                    </p:set>
                                    <p:animEffect transition="in" filter="fade">
                                      <p:cBhvr>
                                        <p:cTn id="17" dur="1000"/>
                                        <p:tgtEl>
                                          <p:spTgt spid="5">
                                            <p:txEl>
                                              <p:pRg st="4" end="4"/>
                                            </p:txEl>
                                          </p:spTgt>
                                        </p:tgtEl>
                                      </p:cBhvr>
                                    </p:animEffect>
                                    <p:anim calcmode="lin" valueType="num">
                                      <p:cBhvr>
                                        <p:cTn id="18" dur="1000" fill="hold"/>
                                        <p:tgtEl>
                                          <p:spTgt spid="5">
                                            <p:txEl>
                                              <p:pRg st="4" end="4"/>
                                            </p:txEl>
                                          </p:spTgt>
                                        </p:tgtEl>
                                        <p:attrNameLst>
                                          <p:attrName>ppt_x</p:attrName>
                                        </p:attrNameLst>
                                      </p:cBhvr>
                                      <p:tavLst>
                                        <p:tav tm="0">
                                          <p:val>
                                            <p:strVal val="#ppt_x"/>
                                          </p:val>
                                        </p:tav>
                                        <p:tav tm="100000">
                                          <p:val>
                                            <p:strVal val="#ppt_x"/>
                                          </p:val>
                                        </p:tav>
                                      </p:tavLst>
                                    </p:anim>
                                    <p:anim calcmode="lin" valueType="num">
                                      <p:cBhvr>
                                        <p:cTn id="19" dur="1000" fill="hold"/>
                                        <p:tgtEl>
                                          <p:spTgt spid="5">
                                            <p:txEl>
                                              <p:pRg st="4" end="4"/>
                                            </p:txEl>
                                          </p:spTgt>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5">
                                            <p:txEl>
                                              <p:pRg st="5" end="5"/>
                                            </p:txEl>
                                          </p:spTgt>
                                        </p:tgtEl>
                                        <p:attrNameLst>
                                          <p:attrName>style.visibility</p:attrName>
                                        </p:attrNameLst>
                                      </p:cBhvr>
                                      <p:to>
                                        <p:strVal val="visible"/>
                                      </p:to>
                                    </p:set>
                                    <p:animEffect transition="in" filter="fade">
                                      <p:cBhvr>
                                        <p:cTn id="22" dur="1000"/>
                                        <p:tgtEl>
                                          <p:spTgt spid="5">
                                            <p:txEl>
                                              <p:pRg st="5" end="5"/>
                                            </p:txEl>
                                          </p:spTgt>
                                        </p:tgtEl>
                                      </p:cBhvr>
                                    </p:animEffect>
                                    <p:anim calcmode="lin" valueType="num">
                                      <p:cBhvr>
                                        <p:cTn id="23" dur="1000" fill="hold"/>
                                        <p:tgtEl>
                                          <p:spTgt spid="5">
                                            <p:txEl>
                                              <p:pRg st="5" end="5"/>
                                            </p:txEl>
                                          </p:spTgt>
                                        </p:tgtEl>
                                        <p:attrNameLst>
                                          <p:attrName>ppt_x</p:attrName>
                                        </p:attrNameLst>
                                      </p:cBhvr>
                                      <p:tavLst>
                                        <p:tav tm="0">
                                          <p:val>
                                            <p:strVal val="#ppt_x"/>
                                          </p:val>
                                        </p:tav>
                                        <p:tav tm="100000">
                                          <p:val>
                                            <p:strVal val="#ppt_x"/>
                                          </p:val>
                                        </p:tav>
                                      </p:tavLst>
                                    </p:anim>
                                    <p:anim calcmode="lin" valueType="num">
                                      <p:cBhvr>
                                        <p:cTn id="24" dur="1000" fill="hold"/>
                                        <p:tgtEl>
                                          <p:spTgt spid="5">
                                            <p:txEl>
                                              <p:pRg st="5" end="5"/>
                                            </p:txEl>
                                          </p:spTgt>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5">
                                            <p:txEl>
                                              <p:pRg st="6" end="6"/>
                                            </p:txEl>
                                          </p:spTgt>
                                        </p:tgtEl>
                                        <p:attrNameLst>
                                          <p:attrName>style.visibility</p:attrName>
                                        </p:attrNameLst>
                                      </p:cBhvr>
                                      <p:to>
                                        <p:strVal val="visible"/>
                                      </p:to>
                                    </p:set>
                                    <p:animEffect transition="in" filter="fade">
                                      <p:cBhvr>
                                        <p:cTn id="27" dur="1000"/>
                                        <p:tgtEl>
                                          <p:spTgt spid="5">
                                            <p:txEl>
                                              <p:pRg st="6" end="6"/>
                                            </p:txEl>
                                          </p:spTgt>
                                        </p:tgtEl>
                                      </p:cBhvr>
                                    </p:animEffect>
                                    <p:anim calcmode="lin" valueType="num">
                                      <p:cBhvr>
                                        <p:cTn id="28" dur="1000" fill="hold"/>
                                        <p:tgtEl>
                                          <p:spTgt spid="5">
                                            <p:txEl>
                                              <p:pRg st="6" end="6"/>
                                            </p:txEl>
                                          </p:spTgt>
                                        </p:tgtEl>
                                        <p:attrNameLst>
                                          <p:attrName>ppt_x</p:attrName>
                                        </p:attrNameLst>
                                      </p:cBhvr>
                                      <p:tavLst>
                                        <p:tav tm="0">
                                          <p:val>
                                            <p:strVal val="#ppt_x"/>
                                          </p:val>
                                        </p:tav>
                                        <p:tav tm="100000">
                                          <p:val>
                                            <p:strVal val="#ppt_x"/>
                                          </p:val>
                                        </p:tav>
                                      </p:tavLst>
                                    </p:anim>
                                    <p:anim calcmode="lin" valueType="num">
                                      <p:cBhvr>
                                        <p:cTn id="29" dur="1000" fill="hold"/>
                                        <p:tgtEl>
                                          <p:spTgt spid="5">
                                            <p:txEl>
                                              <p:pRg st="6" end="6"/>
                                            </p:txEl>
                                          </p:spTgt>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5">
                                            <p:txEl>
                                              <p:pRg st="7" end="7"/>
                                            </p:txEl>
                                          </p:spTgt>
                                        </p:tgtEl>
                                        <p:attrNameLst>
                                          <p:attrName>style.visibility</p:attrName>
                                        </p:attrNameLst>
                                      </p:cBhvr>
                                      <p:to>
                                        <p:strVal val="visible"/>
                                      </p:to>
                                    </p:set>
                                    <p:animEffect transition="in" filter="fade">
                                      <p:cBhvr>
                                        <p:cTn id="32" dur="1000"/>
                                        <p:tgtEl>
                                          <p:spTgt spid="5">
                                            <p:txEl>
                                              <p:pRg st="7" end="7"/>
                                            </p:txEl>
                                          </p:spTgt>
                                        </p:tgtEl>
                                      </p:cBhvr>
                                    </p:animEffect>
                                    <p:anim calcmode="lin" valueType="num">
                                      <p:cBhvr>
                                        <p:cTn id="33" dur="1000" fill="hold"/>
                                        <p:tgtEl>
                                          <p:spTgt spid="5">
                                            <p:txEl>
                                              <p:pRg st="7" end="7"/>
                                            </p:txEl>
                                          </p:spTgt>
                                        </p:tgtEl>
                                        <p:attrNameLst>
                                          <p:attrName>ppt_x</p:attrName>
                                        </p:attrNameLst>
                                      </p:cBhvr>
                                      <p:tavLst>
                                        <p:tav tm="0">
                                          <p:val>
                                            <p:strVal val="#ppt_x"/>
                                          </p:val>
                                        </p:tav>
                                        <p:tav tm="100000">
                                          <p:val>
                                            <p:strVal val="#ppt_x"/>
                                          </p:val>
                                        </p:tav>
                                      </p:tavLst>
                                    </p:anim>
                                    <p:anim calcmode="lin" valueType="num">
                                      <p:cBhvr>
                                        <p:cTn id="34" dur="1000" fill="hold"/>
                                        <p:tgtEl>
                                          <p:spTgt spid="5">
                                            <p:txEl>
                                              <p:pRg st="7" end="7"/>
                                            </p:txEl>
                                          </p:spTgt>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5">
                                            <p:txEl>
                                              <p:pRg st="8" end="8"/>
                                            </p:txEl>
                                          </p:spTgt>
                                        </p:tgtEl>
                                        <p:attrNameLst>
                                          <p:attrName>style.visibility</p:attrName>
                                        </p:attrNameLst>
                                      </p:cBhvr>
                                      <p:to>
                                        <p:strVal val="visible"/>
                                      </p:to>
                                    </p:set>
                                    <p:animEffect transition="in" filter="fade">
                                      <p:cBhvr>
                                        <p:cTn id="37" dur="1000"/>
                                        <p:tgtEl>
                                          <p:spTgt spid="5">
                                            <p:txEl>
                                              <p:pRg st="8" end="8"/>
                                            </p:txEl>
                                          </p:spTgt>
                                        </p:tgtEl>
                                      </p:cBhvr>
                                    </p:animEffect>
                                    <p:anim calcmode="lin" valueType="num">
                                      <p:cBhvr>
                                        <p:cTn id="38" dur="1000" fill="hold"/>
                                        <p:tgtEl>
                                          <p:spTgt spid="5">
                                            <p:txEl>
                                              <p:pRg st="8" end="8"/>
                                            </p:txEl>
                                          </p:spTgt>
                                        </p:tgtEl>
                                        <p:attrNameLst>
                                          <p:attrName>ppt_x</p:attrName>
                                        </p:attrNameLst>
                                      </p:cBhvr>
                                      <p:tavLst>
                                        <p:tav tm="0">
                                          <p:val>
                                            <p:strVal val="#ppt_x"/>
                                          </p:val>
                                        </p:tav>
                                        <p:tav tm="100000">
                                          <p:val>
                                            <p:strVal val="#ppt_x"/>
                                          </p:val>
                                        </p:tav>
                                      </p:tavLst>
                                    </p:anim>
                                    <p:anim calcmode="lin" valueType="num">
                                      <p:cBhvr>
                                        <p:cTn id="39" dur="1000" fill="hold"/>
                                        <p:tgtEl>
                                          <p:spTgt spid="5">
                                            <p:txEl>
                                              <p:pRg st="8" end="8"/>
                                            </p:txEl>
                                          </p:spTgt>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0"/>
                                  </p:stCondLst>
                                  <p:childTnLst>
                                    <p:set>
                                      <p:cBhvr>
                                        <p:cTn id="41" dur="1" fill="hold">
                                          <p:stCondLst>
                                            <p:cond delay="0"/>
                                          </p:stCondLst>
                                        </p:cTn>
                                        <p:tgtEl>
                                          <p:spTgt spid="5">
                                            <p:txEl>
                                              <p:pRg st="10" end="10"/>
                                            </p:txEl>
                                          </p:spTgt>
                                        </p:tgtEl>
                                        <p:attrNameLst>
                                          <p:attrName>style.visibility</p:attrName>
                                        </p:attrNameLst>
                                      </p:cBhvr>
                                      <p:to>
                                        <p:strVal val="visible"/>
                                      </p:to>
                                    </p:set>
                                    <p:animEffect transition="in" filter="fade">
                                      <p:cBhvr>
                                        <p:cTn id="42" dur="1000"/>
                                        <p:tgtEl>
                                          <p:spTgt spid="5">
                                            <p:txEl>
                                              <p:pRg st="10" end="10"/>
                                            </p:txEl>
                                          </p:spTgt>
                                        </p:tgtEl>
                                      </p:cBhvr>
                                    </p:animEffect>
                                    <p:anim calcmode="lin" valueType="num">
                                      <p:cBhvr>
                                        <p:cTn id="43" dur="1000" fill="hold"/>
                                        <p:tgtEl>
                                          <p:spTgt spid="5">
                                            <p:txEl>
                                              <p:pRg st="10" end="10"/>
                                            </p:txEl>
                                          </p:spTgt>
                                        </p:tgtEl>
                                        <p:attrNameLst>
                                          <p:attrName>ppt_x</p:attrName>
                                        </p:attrNameLst>
                                      </p:cBhvr>
                                      <p:tavLst>
                                        <p:tav tm="0">
                                          <p:val>
                                            <p:strVal val="#ppt_x"/>
                                          </p:val>
                                        </p:tav>
                                        <p:tav tm="100000">
                                          <p:val>
                                            <p:strVal val="#ppt_x"/>
                                          </p:val>
                                        </p:tav>
                                      </p:tavLst>
                                    </p:anim>
                                    <p:anim calcmode="lin" valueType="num">
                                      <p:cBhvr>
                                        <p:cTn id="44" dur="1000" fill="hold"/>
                                        <p:tgtEl>
                                          <p:spTgt spid="5">
                                            <p:txEl>
                                              <p:pRg st="10" end="10"/>
                                            </p:txEl>
                                          </p:spTgt>
                                        </p:tgtEl>
                                        <p:attrNameLst>
                                          <p:attrName>ppt_y</p:attrName>
                                        </p:attrNameLst>
                                      </p:cBhvr>
                                      <p:tavLst>
                                        <p:tav tm="0">
                                          <p:val>
                                            <p:strVal val="#ppt_y+.1"/>
                                          </p:val>
                                        </p:tav>
                                        <p:tav tm="100000">
                                          <p:val>
                                            <p:strVal val="#ppt_y"/>
                                          </p:val>
                                        </p:tav>
                                      </p:tavLst>
                                    </p:anim>
                                  </p:childTnLst>
                                </p:cTn>
                              </p:par>
                              <p:par>
                                <p:cTn id="45" presetID="42" presetClass="entr" presetSubtype="0" fill="hold" grpId="0" nodeType="withEffect">
                                  <p:stCondLst>
                                    <p:cond delay="0"/>
                                  </p:stCondLst>
                                  <p:childTnLst>
                                    <p:set>
                                      <p:cBhvr>
                                        <p:cTn id="46" dur="1" fill="hold">
                                          <p:stCondLst>
                                            <p:cond delay="0"/>
                                          </p:stCondLst>
                                        </p:cTn>
                                        <p:tgtEl>
                                          <p:spTgt spid="5">
                                            <p:txEl>
                                              <p:pRg st="12" end="12"/>
                                            </p:txEl>
                                          </p:spTgt>
                                        </p:tgtEl>
                                        <p:attrNameLst>
                                          <p:attrName>style.visibility</p:attrName>
                                        </p:attrNameLst>
                                      </p:cBhvr>
                                      <p:to>
                                        <p:strVal val="visible"/>
                                      </p:to>
                                    </p:set>
                                    <p:animEffect transition="in" filter="fade">
                                      <p:cBhvr>
                                        <p:cTn id="47" dur="1000"/>
                                        <p:tgtEl>
                                          <p:spTgt spid="5">
                                            <p:txEl>
                                              <p:pRg st="12" end="12"/>
                                            </p:txEl>
                                          </p:spTgt>
                                        </p:tgtEl>
                                      </p:cBhvr>
                                    </p:animEffect>
                                    <p:anim calcmode="lin" valueType="num">
                                      <p:cBhvr>
                                        <p:cTn id="48" dur="1000" fill="hold"/>
                                        <p:tgtEl>
                                          <p:spTgt spid="5">
                                            <p:txEl>
                                              <p:pRg st="12" end="12"/>
                                            </p:txEl>
                                          </p:spTgt>
                                        </p:tgtEl>
                                        <p:attrNameLst>
                                          <p:attrName>ppt_x</p:attrName>
                                        </p:attrNameLst>
                                      </p:cBhvr>
                                      <p:tavLst>
                                        <p:tav tm="0">
                                          <p:val>
                                            <p:strVal val="#ppt_x"/>
                                          </p:val>
                                        </p:tav>
                                        <p:tav tm="100000">
                                          <p:val>
                                            <p:strVal val="#ppt_x"/>
                                          </p:val>
                                        </p:tav>
                                      </p:tavLst>
                                    </p:anim>
                                    <p:anim calcmode="lin" valueType="num">
                                      <p:cBhvr>
                                        <p:cTn id="49" dur="1000" fill="hold"/>
                                        <p:tgtEl>
                                          <p:spTgt spid="5">
                                            <p:txEl>
                                              <p:pRg st="12" end="12"/>
                                            </p:txEl>
                                          </p:spTgt>
                                        </p:tgtEl>
                                        <p:attrNameLst>
                                          <p:attrName>ppt_y</p:attrName>
                                        </p:attrNameLst>
                                      </p:cBhvr>
                                      <p:tavLst>
                                        <p:tav tm="0">
                                          <p:val>
                                            <p:strVal val="#ppt_y+.1"/>
                                          </p:val>
                                        </p:tav>
                                        <p:tav tm="100000">
                                          <p:val>
                                            <p:strVal val="#ppt_y"/>
                                          </p:val>
                                        </p:tav>
                                      </p:tavLst>
                                    </p:anim>
                                  </p:childTnLst>
                                </p:cTn>
                              </p:par>
                              <p:par>
                                <p:cTn id="50" presetID="42" presetClass="entr" presetSubtype="0" fill="hold" grpId="0" nodeType="withEffect">
                                  <p:stCondLst>
                                    <p:cond delay="0"/>
                                  </p:stCondLst>
                                  <p:childTnLst>
                                    <p:set>
                                      <p:cBhvr>
                                        <p:cTn id="51" dur="1" fill="hold">
                                          <p:stCondLst>
                                            <p:cond delay="0"/>
                                          </p:stCondLst>
                                        </p:cTn>
                                        <p:tgtEl>
                                          <p:spTgt spid="5">
                                            <p:txEl>
                                              <p:pRg st="14" end="14"/>
                                            </p:txEl>
                                          </p:spTgt>
                                        </p:tgtEl>
                                        <p:attrNameLst>
                                          <p:attrName>style.visibility</p:attrName>
                                        </p:attrNameLst>
                                      </p:cBhvr>
                                      <p:to>
                                        <p:strVal val="visible"/>
                                      </p:to>
                                    </p:set>
                                    <p:animEffect transition="in" filter="fade">
                                      <p:cBhvr>
                                        <p:cTn id="52" dur="1000"/>
                                        <p:tgtEl>
                                          <p:spTgt spid="5">
                                            <p:txEl>
                                              <p:pRg st="14" end="14"/>
                                            </p:txEl>
                                          </p:spTgt>
                                        </p:tgtEl>
                                      </p:cBhvr>
                                    </p:animEffect>
                                    <p:anim calcmode="lin" valueType="num">
                                      <p:cBhvr>
                                        <p:cTn id="53" dur="1000" fill="hold"/>
                                        <p:tgtEl>
                                          <p:spTgt spid="5">
                                            <p:txEl>
                                              <p:pRg st="14" end="14"/>
                                            </p:txEl>
                                          </p:spTgt>
                                        </p:tgtEl>
                                        <p:attrNameLst>
                                          <p:attrName>ppt_x</p:attrName>
                                        </p:attrNameLst>
                                      </p:cBhvr>
                                      <p:tavLst>
                                        <p:tav tm="0">
                                          <p:val>
                                            <p:strVal val="#ppt_x"/>
                                          </p:val>
                                        </p:tav>
                                        <p:tav tm="100000">
                                          <p:val>
                                            <p:strVal val="#ppt_x"/>
                                          </p:val>
                                        </p:tav>
                                      </p:tavLst>
                                    </p:anim>
                                    <p:anim calcmode="lin" valueType="num">
                                      <p:cBhvr>
                                        <p:cTn id="54" dur="1000" fill="hold"/>
                                        <p:tgtEl>
                                          <p:spTgt spid="5">
                                            <p:txEl>
                                              <p:pRg st="14" end="1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allAtOnce"/>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95C60FD-CF43-F253-F25A-7A09E96053CF}"/>
              </a:ext>
            </a:extLst>
          </p:cNvPr>
          <p:cNvSpPr/>
          <p:nvPr/>
        </p:nvSpPr>
        <p:spPr>
          <a:xfrm>
            <a:off x="0" y="0"/>
            <a:ext cx="12192000" cy="6858000"/>
          </a:xfrm>
          <a:prstGeom prst="rect">
            <a:avLst/>
          </a:prstGeom>
          <a:solidFill>
            <a:schemeClr val="dk1">
              <a:alpha val="50000"/>
            </a:schemeClr>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dirty="0"/>
          </a:p>
        </p:txBody>
      </p:sp>
      <p:sp>
        <p:nvSpPr>
          <p:cNvPr id="4" name="TextBox 3">
            <a:extLst>
              <a:ext uri="{FF2B5EF4-FFF2-40B4-BE49-F238E27FC236}">
                <a16:creationId xmlns:a16="http://schemas.microsoft.com/office/drawing/2014/main" id="{2582319C-4AF0-312F-8CFD-B2ED3F9393A8}"/>
              </a:ext>
            </a:extLst>
          </p:cNvPr>
          <p:cNvSpPr txBox="1"/>
          <p:nvPr/>
        </p:nvSpPr>
        <p:spPr>
          <a:xfrm>
            <a:off x="1966452" y="973393"/>
            <a:ext cx="7403690" cy="769441"/>
          </a:xfrm>
          <a:prstGeom prst="rect">
            <a:avLst/>
          </a:prstGeom>
          <a:noFill/>
        </p:spPr>
        <p:txBody>
          <a:bodyPr wrap="square" rtlCol="0">
            <a:spAutoFit/>
          </a:bodyPr>
          <a:lstStyle/>
          <a:p>
            <a:pPr algn="ctr"/>
            <a:r>
              <a:rPr lang="en-GB" sz="4400" b="1" dirty="0">
                <a:solidFill>
                  <a:srgbClr val="FFC000"/>
                </a:solidFill>
                <a:latin typeface="Arial Black" panose="020B0A04020102020204" pitchFamily="34" charset="0"/>
              </a:rPr>
              <a:t>TECH STACK</a:t>
            </a:r>
            <a:endParaRPr lang="en-IN" sz="4400" b="1" dirty="0">
              <a:solidFill>
                <a:srgbClr val="FFC000"/>
              </a:solidFill>
              <a:latin typeface="Arial Black" panose="020B0A04020102020204" pitchFamily="34" charset="0"/>
            </a:endParaRPr>
          </a:p>
        </p:txBody>
      </p:sp>
      <p:sp>
        <p:nvSpPr>
          <p:cNvPr id="6" name="TextBox 5">
            <a:extLst>
              <a:ext uri="{FF2B5EF4-FFF2-40B4-BE49-F238E27FC236}">
                <a16:creationId xmlns:a16="http://schemas.microsoft.com/office/drawing/2014/main" id="{7748C37E-9FB4-02FB-5B33-73A752070325}"/>
              </a:ext>
            </a:extLst>
          </p:cNvPr>
          <p:cNvSpPr txBox="1"/>
          <p:nvPr/>
        </p:nvSpPr>
        <p:spPr>
          <a:xfrm>
            <a:off x="1425677" y="2448232"/>
            <a:ext cx="9144000" cy="2800767"/>
          </a:xfrm>
          <a:prstGeom prst="rect">
            <a:avLst/>
          </a:prstGeom>
          <a:noFill/>
        </p:spPr>
        <p:txBody>
          <a:bodyPr wrap="square" rtlCol="0">
            <a:spAutoFit/>
          </a:bodyPr>
          <a:lstStyle/>
          <a:p>
            <a:pPr marL="285750" indent="-285750">
              <a:buFont typeface="Arial" panose="020B0604020202020204" pitchFamily="34" charset="0"/>
              <a:buChar char="•"/>
            </a:pPr>
            <a:r>
              <a:rPr lang="en-IN" sz="1600" dirty="0">
                <a:solidFill>
                  <a:schemeClr val="bg2"/>
                </a:solidFill>
                <a:latin typeface="Arial Rounded MT Bold" panose="020F0704030504030204" pitchFamily="34" charset="0"/>
              </a:rPr>
              <a:t> Frontend: HTML, CSS, JavaScript</a:t>
            </a:r>
          </a:p>
          <a:p>
            <a:pPr marL="285750" indent="-285750">
              <a:buFont typeface="Arial" panose="020B0604020202020204" pitchFamily="34" charset="0"/>
              <a:buChar char="•"/>
            </a:pPr>
            <a:endParaRPr lang="en-IN" sz="1600" dirty="0">
              <a:solidFill>
                <a:schemeClr val="bg2"/>
              </a:solidFill>
              <a:latin typeface="Arial Rounded MT Bold" panose="020F0704030504030204" pitchFamily="34" charset="0"/>
            </a:endParaRPr>
          </a:p>
          <a:p>
            <a:pPr marL="285750" indent="-285750">
              <a:buFont typeface="Arial" panose="020B0604020202020204" pitchFamily="34" charset="0"/>
              <a:buChar char="•"/>
            </a:pPr>
            <a:r>
              <a:rPr lang="en-IN" sz="1600" dirty="0">
                <a:solidFill>
                  <a:schemeClr val="bg2"/>
                </a:solidFill>
                <a:latin typeface="Arial Rounded MT Bold" panose="020F0704030504030204" pitchFamily="34" charset="0"/>
              </a:rPr>
              <a:t> Backend: Flask (Python)</a:t>
            </a:r>
          </a:p>
          <a:p>
            <a:pPr marL="285750" indent="-285750">
              <a:buFont typeface="Arial" panose="020B0604020202020204" pitchFamily="34" charset="0"/>
              <a:buChar char="•"/>
            </a:pPr>
            <a:endParaRPr lang="en-IN" sz="1600" dirty="0">
              <a:solidFill>
                <a:schemeClr val="bg2"/>
              </a:solidFill>
              <a:latin typeface="Arial Rounded MT Bold" panose="020F0704030504030204" pitchFamily="34" charset="0"/>
            </a:endParaRPr>
          </a:p>
          <a:p>
            <a:pPr marL="285750" indent="-285750">
              <a:buFont typeface="Arial" panose="020B0604020202020204" pitchFamily="34" charset="0"/>
              <a:buChar char="•"/>
            </a:pPr>
            <a:r>
              <a:rPr lang="en-IN" sz="1600" dirty="0">
                <a:solidFill>
                  <a:schemeClr val="bg2"/>
                </a:solidFill>
                <a:latin typeface="Arial Rounded MT Bold" panose="020F0704030504030204" pitchFamily="34" charset="0"/>
              </a:rPr>
              <a:t> Machine Learning: Scikit-learn</a:t>
            </a:r>
          </a:p>
          <a:p>
            <a:pPr marL="285750" indent="-285750">
              <a:buFont typeface="Arial" panose="020B0604020202020204" pitchFamily="34" charset="0"/>
              <a:buChar char="•"/>
            </a:pPr>
            <a:endParaRPr lang="en-IN" sz="1600" dirty="0">
              <a:solidFill>
                <a:schemeClr val="bg2"/>
              </a:solidFill>
              <a:latin typeface="Arial Rounded MT Bold" panose="020F0704030504030204" pitchFamily="34" charset="0"/>
            </a:endParaRPr>
          </a:p>
          <a:p>
            <a:pPr marL="285750" indent="-285750">
              <a:buFont typeface="Arial" panose="020B0604020202020204" pitchFamily="34" charset="0"/>
              <a:buChar char="•"/>
            </a:pPr>
            <a:r>
              <a:rPr lang="en-IN" sz="1600" dirty="0">
                <a:solidFill>
                  <a:schemeClr val="bg2"/>
                </a:solidFill>
                <a:latin typeface="Arial Rounded MT Bold" panose="020F0704030504030204" pitchFamily="34" charset="0"/>
              </a:rPr>
              <a:t> Algorithms: Logistic Regression, Decision Tree, Random Forest, Gradient Boosting</a:t>
            </a:r>
          </a:p>
          <a:p>
            <a:pPr marL="285750" indent="-285750">
              <a:buFont typeface="Arial" panose="020B0604020202020204" pitchFamily="34" charset="0"/>
              <a:buChar char="•"/>
            </a:pPr>
            <a:endParaRPr lang="en-IN" sz="1600" dirty="0">
              <a:solidFill>
                <a:schemeClr val="bg2"/>
              </a:solidFill>
              <a:latin typeface="Arial Rounded MT Bold" panose="020F0704030504030204" pitchFamily="34" charset="0"/>
            </a:endParaRPr>
          </a:p>
          <a:p>
            <a:pPr marL="285750" indent="-285750">
              <a:buFont typeface="Arial" panose="020B0604020202020204" pitchFamily="34" charset="0"/>
              <a:buChar char="•"/>
            </a:pPr>
            <a:r>
              <a:rPr lang="en-IN" sz="1600" dirty="0">
                <a:solidFill>
                  <a:schemeClr val="bg2"/>
                </a:solidFill>
                <a:latin typeface="Arial Rounded MT Bold" panose="020F0704030504030204" pitchFamily="34" charset="0"/>
              </a:rPr>
              <a:t> Tools Used: VS Code, GitHub</a:t>
            </a:r>
          </a:p>
          <a:p>
            <a:pPr marL="285750" indent="-285750">
              <a:buFont typeface="Arial" panose="020B0604020202020204" pitchFamily="34" charset="0"/>
              <a:buChar char="•"/>
            </a:pPr>
            <a:endParaRPr lang="en-IN" sz="1600" dirty="0">
              <a:solidFill>
                <a:schemeClr val="bg2"/>
              </a:solidFill>
              <a:latin typeface="Arial Rounded MT Bold" panose="020F0704030504030204" pitchFamily="34" charset="0"/>
            </a:endParaRPr>
          </a:p>
          <a:p>
            <a:pPr marL="285750" indent="-285750">
              <a:buFont typeface="Arial" panose="020B0604020202020204" pitchFamily="34" charset="0"/>
              <a:buChar char="•"/>
            </a:pPr>
            <a:r>
              <a:rPr lang="en-IN" sz="1600" dirty="0">
                <a:solidFill>
                  <a:schemeClr val="bg2"/>
                </a:solidFill>
                <a:latin typeface="Arial Rounded MT Bold" panose="020F0704030504030204" pitchFamily="34" charset="0"/>
              </a:rPr>
              <a:t> Dataset Source: Kaggle (Earthquake Dataset)</a:t>
            </a:r>
          </a:p>
        </p:txBody>
      </p:sp>
    </p:spTree>
    <p:extLst>
      <p:ext uri="{BB962C8B-B14F-4D97-AF65-F5344CB8AC3E}">
        <p14:creationId xmlns:p14="http://schemas.microsoft.com/office/powerpoint/2010/main" val="11626518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0E9D507-63DD-5096-1E2F-1FBB51D91AAF}"/>
              </a:ext>
            </a:extLst>
          </p:cNvPr>
          <p:cNvSpPr/>
          <p:nvPr/>
        </p:nvSpPr>
        <p:spPr>
          <a:xfrm>
            <a:off x="0" y="0"/>
            <a:ext cx="12192000" cy="6858000"/>
          </a:xfrm>
          <a:prstGeom prst="rect">
            <a:avLst/>
          </a:prstGeom>
          <a:solidFill>
            <a:schemeClr val="dk1">
              <a:alpha val="50000"/>
            </a:schemeClr>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1905157F-9566-A8FE-47BC-FFA640CCEF8C}"/>
              </a:ext>
            </a:extLst>
          </p:cNvPr>
          <p:cNvSpPr txBox="1"/>
          <p:nvPr/>
        </p:nvSpPr>
        <p:spPr>
          <a:xfrm>
            <a:off x="1956619" y="816078"/>
            <a:ext cx="7511845" cy="1323439"/>
          </a:xfrm>
          <a:prstGeom prst="rect">
            <a:avLst/>
          </a:prstGeom>
          <a:noFill/>
        </p:spPr>
        <p:txBody>
          <a:bodyPr wrap="square" rtlCol="0">
            <a:spAutoFit/>
          </a:bodyPr>
          <a:lstStyle/>
          <a:p>
            <a:pPr algn="ctr"/>
            <a:r>
              <a:rPr lang="en-GB" sz="4000" b="1" dirty="0">
                <a:solidFill>
                  <a:srgbClr val="FFC000"/>
                </a:solidFill>
                <a:latin typeface="Arial Black" panose="020B0A04020102020204" pitchFamily="34" charset="0"/>
              </a:rPr>
              <a:t>EARTHQUAKE IMPACT PREDICTION WORKFLOW</a:t>
            </a:r>
            <a:endParaRPr lang="en-IN" sz="4000" b="1" dirty="0">
              <a:solidFill>
                <a:srgbClr val="FFC000"/>
              </a:solidFill>
              <a:latin typeface="Arial Black" panose="020B0A04020102020204" pitchFamily="34" charset="0"/>
            </a:endParaRPr>
          </a:p>
        </p:txBody>
      </p:sp>
      <p:pic>
        <p:nvPicPr>
          <p:cNvPr id="5" name="Picture 4">
            <a:extLst>
              <a:ext uri="{FF2B5EF4-FFF2-40B4-BE49-F238E27FC236}">
                <a16:creationId xmlns:a16="http://schemas.microsoft.com/office/drawing/2014/main" id="{3B15FE86-F12A-72F3-D687-03389875DB4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460685"/>
            <a:ext cx="12192000" cy="3291185"/>
          </a:xfrm>
          <a:prstGeom prst="rect">
            <a:avLst/>
          </a:prstGeom>
        </p:spPr>
      </p:pic>
    </p:spTree>
    <p:extLst>
      <p:ext uri="{BB962C8B-B14F-4D97-AF65-F5344CB8AC3E}">
        <p14:creationId xmlns:p14="http://schemas.microsoft.com/office/powerpoint/2010/main" val="39587262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2F72DBE-65A8-5953-DEB3-59BF35F7C754}"/>
              </a:ext>
            </a:extLst>
          </p:cNvPr>
          <p:cNvSpPr/>
          <p:nvPr/>
        </p:nvSpPr>
        <p:spPr>
          <a:xfrm>
            <a:off x="0" y="0"/>
            <a:ext cx="12192000" cy="6858000"/>
          </a:xfrm>
          <a:prstGeom prst="rect">
            <a:avLst/>
          </a:prstGeom>
          <a:solidFill>
            <a:schemeClr val="dk1">
              <a:alpha val="50000"/>
            </a:schemeClr>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b="1" dirty="0"/>
          </a:p>
        </p:txBody>
      </p:sp>
      <p:sp>
        <p:nvSpPr>
          <p:cNvPr id="3" name="TextBox 2">
            <a:extLst>
              <a:ext uri="{FF2B5EF4-FFF2-40B4-BE49-F238E27FC236}">
                <a16:creationId xmlns:a16="http://schemas.microsoft.com/office/drawing/2014/main" id="{B30F1C3E-B258-638F-F045-988D60BD258E}"/>
              </a:ext>
            </a:extLst>
          </p:cNvPr>
          <p:cNvSpPr txBox="1"/>
          <p:nvPr/>
        </p:nvSpPr>
        <p:spPr>
          <a:xfrm>
            <a:off x="1966452" y="806245"/>
            <a:ext cx="7767484" cy="769441"/>
          </a:xfrm>
          <a:prstGeom prst="rect">
            <a:avLst/>
          </a:prstGeom>
          <a:noFill/>
        </p:spPr>
        <p:txBody>
          <a:bodyPr wrap="square" rtlCol="0">
            <a:spAutoFit/>
          </a:bodyPr>
          <a:lstStyle/>
          <a:p>
            <a:pPr algn="ctr"/>
            <a:r>
              <a:rPr lang="en-GB" sz="4400" b="1" dirty="0">
                <a:solidFill>
                  <a:srgbClr val="FFC000"/>
                </a:solidFill>
                <a:latin typeface="Arial Black" panose="020B0A04020102020204" pitchFamily="34" charset="0"/>
              </a:rPr>
              <a:t>FEASIBILITY ANALYSIS</a:t>
            </a:r>
            <a:endParaRPr lang="en-IN" sz="4400" b="1" dirty="0">
              <a:solidFill>
                <a:srgbClr val="FFC000"/>
              </a:solidFill>
              <a:latin typeface="Arial Black" panose="020B0A04020102020204" pitchFamily="34" charset="0"/>
            </a:endParaRPr>
          </a:p>
        </p:txBody>
      </p:sp>
      <p:sp>
        <p:nvSpPr>
          <p:cNvPr id="4" name="TextBox 3">
            <a:extLst>
              <a:ext uri="{FF2B5EF4-FFF2-40B4-BE49-F238E27FC236}">
                <a16:creationId xmlns:a16="http://schemas.microsoft.com/office/drawing/2014/main" id="{A74FBF06-80EF-1275-180B-8735540F1EE1}"/>
              </a:ext>
            </a:extLst>
          </p:cNvPr>
          <p:cNvSpPr txBox="1"/>
          <p:nvPr/>
        </p:nvSpPr>
        <p:spPr>
          <a:xfrm>
            <a:off x="835743" y="2110068"/>
            <a:ext cx="10304206" cy="4278094"/>
          </a:xfrm>
          <a:prstGeom prst="rect">
            <a:avLst/>
          </a:prstGeom>
          <a:noFill/>
        </p:spPr>
        <p:txBody>
          <a:bodyPr wrap="square" rtlCol="0">
            <a:spAutoFit/>
          </a:bodyPr>
          <a:lstStyle/>
          <a:p>
            <a:pPr marL="285750" indent="-285750">
              <a:buFont typeface="Arial" panose="020B0604020202020204" pitchFamily="34" charset="0"/>
              <a:buChar char="•"/>
            </a:pPr>
            <a:r>
              <a:rPr lang="en-GB" sz="1600" dirty="0">
                <a:solidFill>
                  <a:schemeClr val="bg1">
                    <a:lumMod val="95000"/>
                  </a:schemeClr>
                </a:solidFill>
                <a:latin typeface="Arial Rounded MT Bold" panose="020F0704030504030204" pitchFamily="34" charset="0"/>
              </a:rPr>
              <a:t>Technical Feasibility: The system is implemented using Python, Flask, and machine learning libraries like Scikit-learn, which are reliable and widely used technologies.</a:t>
            </a:r>
          </a:p>
          <a:p>
            <a:pPr marL="285750" indent="-285750">
              <a:buFont typeface="Arial" panose="020B0604020202020204" pitchFamily="34" charset="0"/>
              <a:buChar char="•"/>
            </a:pPr>
            <a:endParaRPr lang="en-GB" sz="1600" dirty="0">
              <a:solidFill>
                <a:schemeClr val="bg1">
                  <a:lumMod val="95000"/>
                </a:schemeClr>
              </a:solidFill>
              <a:latin typeface="Arial Rounded MT Bold" panose="020F0704030504030204" pitchFamily="34" charset="0"/>
            </a:endParaRPr>
          </a:p>
          <a:p>
            <a:pPr marL="285750" indent="-285750">
              <a:buFont typeface="Arial" panose="020B0604020202020204" pitchFamily="34" charset="0"/>
              <a:buChar char="•"/>
            </a:pPr>
            <a:r>
              <a:rPr lang="en-GB" sz="1600" dirty="0">
                <a:solidFill>
                  <a:schemeClr val="bg1">
                    <a:lumMod val="95000"/>
                  </a:schemeClr>
                </a:solidFill>
                <a:latin typeface="Arial Rounded MT Bold" panose="020F0704030504030204" pitchFamily="34" charset="0"/>
              </a:rPr>
              <a:t>Economic Feasibility: The project uses open-source tools and libraries, making it cost-effective with no need for expensive software or infrastructure.</a:t>
            </a:r>
          </a:p>
          <a:p>
            <a:pPr marL="285750" indent="-285750">
              <a:buFont typeface="Arial" panose="020B0604020202020204" pitchFamily="34" charset="0"/>
              <a:buChar char="•"/>
            </a:pPr>
            <a:endParaRPr lang="en-GB" sz="1600" dirty="0">
              <a:solidFill>
                <a:schemeClr val="bg1">
                  <a:lumMod val="95000"/>
                </a:schemeClr>
              </a:solidFill>
              <a:latin typeface="Arial Rounded MT Bold" panose="020F0704030504030204" pitchFamily="34" charset="0"/>
            </a:endParaRPr>
          </a:p>
          <a:p>
            <a:pPr marL="285750" indent="-285750">
              <a:buFont typeface="Arial" panose="020B0604020202020204" pitchFamily="34" charset="0"/>
              <a:buChar char="•"/>
            </a:pPr>
            <a:r>
              <a:rPr lang="en-GB" sz="1600" dirty="0">
                <a:solidFill>
                  <a:schemeClr val="bg1">
                    <a:lumMod val="95000"/>
                  </a:schemeClr>
                </a:solidFill>
                <a:latin typeface="Arial Rounded MT Bold" panose="020F0704030504030204" pitchFamily="34" charset="0"/>
              </a:rPr>
              <a:t>Operational Feasibility: The system is designed with a simple and user-friendly interface, allowing users to easily input data and get predictions.</a:t>
            </a:r>
          </a:p>
          <a:p>
            <a:pPr marL="285750" indent="-285750">
              <a:buFont typeface="Arial" panose="020B0604020202020204" pitchFamily="34" charset="0"/>
              <a:buChar char="•"/>
            </a:pPr>
            <a:endParaRPr lang="en-GB" sz="1600" dirty="0">
              <a:solidFill>
                <a:schemeClr val="bg1">
                  <a:lumMod val="95000"/>
                </a:schemeClr>
              </a:solidFill>
              <a:latin typeface="Arial Rounded MT Bold" panose="020F0704030504030204" pitchFamily="34" charset="0"/>
            </a:endParaRPr>
          </a:p>
          <a:p>
            <a:pPr marL="285750" indent="-285750">
              <a:buFont typeface="Arial" panose="020B0604020202020204" pitchFamily="34" charset="0"/>
              <a:buChar char="•"/>
            </a:pPr>
            <a:r>
              <a:rPr lang="en-GB" sz="1600" dirty="0">
                <a:solidFill>
                  <a:schemeClr val="bg1">
                    <a:lumMod val="95000"/>
                  </a:schemeClr>
                </a:solidFill>
                <a:latin typeface="Arial Rounded MT Bold" panose="020F0704030504030204" pitchFamily="34" charset="0"/>
              </a:rPr>
              <a:t>Performance Feasibility: The system provides fast and efficient predictions with good accuracy using trained machine learning models.</a:t>
            </a:r>
          </a:p>
          <a:p>
            <a:pPr marL="285750" indent="-285750">
              <a:buFont typeface="Arial" panose="020B0604020202020204" pitchFamily="34" charset="0"/>
              <a:buChar char="•"/>
            </a:pPr>
            <a:endParaRPr lang="en-GB" sz="1600" dirty="0">
              <a:solidFill>
                <a:schemeClr val="bg1">
                  <a:lumMod val="95000"/>
                </a:schemeClr>
              </a:solidFill>
              <a:latin typeface="Arial Rounded MT Bold" panose="020F0704030504030204" pitchFamily="34" charset="0"/>
            </a:endParaRPr>
          </a:p>
          <a:p>
            <a:pPr marL="285750" indent="-285750">
              <a:buFont typeface="Arial" panose="020B0604020202020204" pitchFamily="34" charset="0"/>
              <a:buChar char="•"/>
            </a:pPr>
            <a:r>
              <a:rPr lang="en-GB" sz="1600" dirty="0">
                <a:solidFill>
                  <a:schemeClr val="bg1">
                    <a:lumMod val="95000"/>
                  </a:schemeClr>
                </a:solidFill>
                <a:latin typeface="Arial Rounded MT Bold" panose="020F0704030504030204" pitchFamily="34" charset="0"/>
              </a:rPr>
              <a:t>Deployment Feasibility: The application can be deployed as a web-based system, making it accessible from anywhere.</a:t>
            </a:r>
          </a:p>
          <a:p>
            <a:pPr marL="285750" indent="-285750">
              <a:buFont typeface="Arial" panose="020B0604020202020204" pitchFamily="34" charset="0"/>
              <a:buChar char="•"/>
            </a:pPr>
            <a:endParaRPr lang="en-GB" sz="1600" dirty="0">
              <a:solidFill>
                <a:schemeClr val="bg1">
                  <a:lumMod val="95000"/>
                </a:schemeClr>
              </a:solidFill>
              <a:latin typeface="Arial Rounded MT Bold" panose="020F0704030504030204" pitchFamily="34" charset="0"/>
            </a:endParaRPr>
          </a:p>
          <a:p>
            <a:pPr marL="285750" indent="-285750">
              <a:buFont typeface="Arial" panose="020B0604020202020204" pitchFamily="34" charset="0"/>
              <a:buChar char="•"/>
            </a:pPr>
            <a:r>
              <a:rPr lang="en-GB" sz="1600" dirty="0">
                <a:solidFill>
                  <a:schemeClr val="bg1">
                    <a:lumMod val="95000"/>
                  </a:schemeClr>
                </a:solidFill>
                <a:latin typeface="Arial Rounded MT Bold" panose="020F0704030504030204" pitchFamily="34" charset="0"/>
              </a:rPr>
              <a:t>Scalability Feasibility: The system can be enhanced in the future by adding more data, integrating real-time APIs, and improving model performance.</a:t>
            </a:r>
            <a:endParaRPr lang="en-IN" sz="1600" dirty="0">
              <a:solidFill>
                <a:schemeClr val="bg1">
                  <a:lumMod val="95000"/>
                </a:schemeClr>
              </a:solidFill>
              <a:latin typeface="Arial Rounded MT Bold" panose="020F0704030504030204" pitchFamily="34" charset="0"/>
            </a:endParaRPr>
          </a:p>
        </p:txBody>
      </p:sp>
    </p:spTree>
    <p:extLst>
      <p:ext uri="{BB962C8B-B14F-4D97-AF65-F5344CB8AC3E}">
        <p14:creationId xmlns:p14="http://schemas.microsoft.com/office/powerpoint/2010/main" val="18078928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1000"/>
                                        <p:tgtEl>
                                          <p:spTgt spid="4">
                                            <p:txEl>
                                              <p:pRg st="2" end="2"/>
                                            </p:txEl>
                                          </p:spTgt>
                                        </p:tgtEl>
                                      </p:cBhvr>
                                    </p:animEffect>
                                    <p:anim calcmode="lin" valueType="num">
                                      <p:cBhvr>
                                        <p:cTn id="13"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4">
                                            <p:txEl>
                                              <p:pRg st="2" end="2"/>
                                            </p:txEl>
                                          </p:spTgt>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4">
                                            <p:txEl>
                                              <p:pRg st="4" end="4"/>
                                            </p:txEl>
                                          </p:spTgt>
                                        </p:tgtEl>
                                        <p:attrNameLst>
                                          <p:attrName>style.visibility</p:attrName>
                                        </p:attrNameLst>
                                      </p:cBhvr>
                                      <p:to>
                                        <p:strVal val="visible"/>
                                      </p:to>
                                    </p:set>
                                    <p:animEffect transition="in" filter="fade">
                                      <p:cBhvr>
                                        <p:cTn id="17" dur="1000"/>
                                        <p:tgtEl>
                                          <p:spTgt spid="4">
                                            <p:txEl>
                                              <p:pRg st="4" end="4"/>
                                            </p:txEl>
                                          </p:spTgt>
                                        </p:tgtEl>
                                      </p:cBhvr>
                                    </p:animEffect>
                                    <p:anim calcmode="lin" valueType="num">
                                      <p:cBhvr>
                                        <p:cTn id="18"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19" dur="1000" fill="hold"/>
                                        <p:tgtEl>
                                          <p:spTgt spid="4">
                                            <p:txEl>
                                              <p:pRg st="4" end="4"/>
                                            </p:txEl>
                                          </p:spTgt>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4">
                                            <p:txEl>
                                              <p:pRg st="6" end="6"/>
                                            </p:txEl>
                                          </p:spTgt>
                                        </p:tgtEl>
                                        <p:attrNameLst>
                                          <p:attrName>style.visibility</p:attrName>
                                        </p:attrNameLst>
                                      </p:cBhvr>
                                      <p:to>
                                        <p:strVal val="visible"/>
                                      </p:to>
                                    </p:set>
                                    <p:animEffect transition="in" filter="fade">
                                      <p:cBhvr>
                                        <p:cTn id="22" dur="1000"/>
                                        <p:tgtEl>
                                          <p:spTgt spid="4">
                                            <p:txEl>
                                              <p:pRg st="6" end="6"/>
                                            </p:txEl>
                                          </p:spTgt>
                                        </p:tgtEl>
                                      </p:cBhvr>
                                    </p:animEffect>
                                    <p:anim calcmode="lin" valueType="num">
                                      <p:cBhvr>
                                        <p:cTn id="23" dur="1000" fill="hold"/>
                                        <p:tgtEl>
                                          <p:spTgt spid="4">
                                            <p:txEl>
                                              <p:pRg st="6" end="6"/>
                                            </p:txEl>
                                          </p:spTgt>
                                        </p:tgtEl>
                                        <p:attrNameLst>
                                          <p:attrName>ppt_x</p:attrName>
                                        </p:attrNameLst>
                                      </p:cBhvr>
                                      <p:tavLst>
                                        <p:tav tm="0">
                                          <p:val>
                                            <p:strVal val="#ppt_x"/>
                                          </p:val>
                                        </p:tav>
                                        <p:tav tm="100000">
                                          <p:val>
                                            <p:strVal val="#ppt_x"/>
                                          </p:val>
                                        </p:tav>
                                      </p:tavLst>
                                    </p:anim>
                                    <p:anim calcmode="lin" valueType="num">
                                      <p:cBhvr>
                                        <p:cTn id="24" dur="1000" fill="hold"/>
                                        <p:tgtEl>
                                          <p:spTgt spid="4">
                                            <p:txEl>
                                              <p:pRg st="6" end="6"/>
                                            </p:txEl>
                                          </p:spTgt>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4">
                                            <p:txEl>
                                              <p:pRg st="8" end="8"/>
                                            </p:txEl>
                                          </p:spTgt>
                                        </p:tgtEl>
                                        <p:attrNameLst>
                                          <p:attrName>style.visibility</p:attrName>
                                        </p:attrNameLst>
                                      </p:cBhvr>
                                      <p:to>
                                        <p:strVal val="visible"/>
                                      </p:to>
                                    </p:set>
                                    <p:animEffect transition="in" filter="fade">
                                      <p:cBhvr>
                                        <p:cTn id="27" dur="1000"/>
                                        <p:tgtEl>
                                          <p:spTgt spid="4">
                                            <p:txEl>
                                              <p:pRg st="8" end="8"/>
                                            </p:txEl>
                                          </p:spTgt>
                                        </p:tgtEl>
                                      </p:cBhvr>
                                    </p:animEffect>
                                    <p:anim calcmode="lin" valueType="num">
                                      <p:cBhvr>
                                        <p:cTn id="28" dur="1000" fill="hold"/>
                                        <p:tgtEl>
                                          <p:spTgt spid="4">
                                            <p:txEl>
                                              <p:pRg st="8" end="8"/>
                                            </p:txEl>
                                          </p:spTgt>
                                        </p:tgtEl>
                                        <p:attrNameLst>
                                          <p:attrName>ppt_x</p:attrName>
                                        </p:attrNameLst>
                                      </p:cBhvr>
                                      <p:tavLst>
                                        <p:tav tm="0">
                                          <p:val>
                                            <p:strVal val="#ppt_x"/>
                                          </p:val>
                                        </p:tav>
                                        <p:tav tm="100000">
                                          <p:val>
                                            <p:strVal val="#ppt_x"/>
                                          </p:val>
                                        </p:tav>
                                      </p:tavLst>
                                    </p:anim>
                                    <p:anim calcmode="lin" valueType="num">
                                      <p:cBhvr>
                                        <p:cTn id="29" dur="1000" fill="hold"/>
                                        <p:tgtEl>
                                          <p:spTgt spid="4">
                                            <p:txEl>
                                              <p:pRg st="8" end="8"/>
                                            </p:txEl>
                                          </p:spTgt>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4">
                                            <p:txEl>
                                              <p:pRg st="10" end="10"/>
                                            </p:txEl>
                                          </p:spTgt>
                                        </p:tgtEl>
                                        <p:attrNameLst>
                                          <p:attrName>style.visibility</p:attrName>
                                        </p:attrNameLst>
                                      </p:cBhvr>
                                      <p:to>
                                        <p:strVal val="visible"/>
                                      </p:to>
                                    </p:set>
                                    <p:animEffect transition="in" filter="fade">
                                      <p:cBhvr>
                                        <p:cTn id="32" dur="1000"/>
                                        <p:tgtEl>
                                          <p:spTgt spid="4">
                                            <p:txEl>
                                              <p:pRg st="10" end="10"/>
                                            </p:txEl>
                                          </p:spTgt>
                                        </p:tgtEl>
                                      </p:cBhvr>
                                    </p:animEffect>
                                    <p:anim calcmode="lin" valueType="num">
                                      <p:cBhvr>
                                        <p:cTn id="33" dur="1000" fill="hold"/>
                                        <p:tgtEl>
                                          <p:spTgt spid="4">
                                            <p:txEl>
                                              <p:pRg st="10" end="10"/>
                                            </p:txEl>
                                          </p:spTgt>
                                        </p:tgtEl>
                                        <p:attrNameLst>
                                          <p:attrName>ppt_x</p:attrName>
                                        </p:attrNameLst>
                                      </p:cBhvr>
                                      <p:tavLst>
                                        <p:tav tm="0">
                                          <p:val>
                                            <p:strVal val="#ppt_x"/>
                                          </p:val>
                                        </p:tav>
                                        <p:tav tm="100000">
                                          <p:val>
                                            <p:strVal val="#ppt_x"/>
                                          </p:val>
                                        </p:tav>
                                      </p:tavLst>
                                    </p:anim>
                                    <p:anim calcmode="lin" valueType="num">
                                      <p:cBhvr>
                                        <p:cTn id="34" dur="1000" fill="hold"/>
                                        <p:tgtEl>
                                          <p:spTgt spid="4">
                                            <p:txEl>
                                              <p:pRg st="10" end="1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allAtOnce"/>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1F83065-3C0A-B1D3-6430-37A1B8DA8F7D}"/>
              </a:ext>
            </a:extLst>
          </p:cNvPr>
          <p:cNvSpPr/>
          <p:nvPr/>
        </p:nvSpPr>
        <p:spPr>
          <a:xfrm>
            <a:off x="0" y="0"/>
            <a:ext cx="12192000" cy="6858000"/>
          </a:xfrm>
          <a:prstGeom prst="rect">
            <a:avLst/>
          </a:prstGeom>
          <a:solidFill>
            <a:schemeClr val="dk1">
              <a:alpha val="50000"/>
            </a:schemeClr>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dirty="0"/>
          </a:p>
        </p:txBody>
      </p:sp>
      <p:sp>
        <p:nvSpPr>
          <p:cNvPr id="5" name="TextBox 4">
            <a:extLst>
              <a:ext uri="{FF2B5EF4-FFF2-40B4-BE49-F238E27FC236}">
                <a16:creationId xmlns:a16="http://schemas.microsoft.com/office/drawing/2014/main" id="{CE4B46B6-88EC-BB5E-DB82-AD604DB547CB}"/>
              </a:ext>
            </a:extLst>
          </p:cNvPr>
          <p:cNvSpPr txBox="1"/>
          <p:nvPr/>
        </p:nvSpPr>
        <p:spPr>
          <a:xfrm>
            <a:off x="2217173" y="832979"/>
            <a:ext cx="9035846" cy="707886"/>
          </a:xfrm>
          <a:prstGeom prst="rect">
            <a:avLst/>
          </a:prstGeom>
          <a:noFill/>
        </p:spPr>
        <p:txBody>
          <a:bodyPr wrap="square" rtlCol="0">
            <a:spAutoFit/>
          </a:bodyPr>
          <a:lstStyle/>
          <a:p>
            <a:r>
              <a:rPr lang="en-GB" sz="4000" b="1" dirty="0">
                <a:solidFill>
                  <a:srgbClr val="FFC000"/>
                </a:solidFill>
                <a:latin typeface="Arial Black" panose="020B0A04020102020204" pitchFamily="34" charset="0"/>
              </a:rPr>
              <a:t> IMPACT AND BENEFITS</a:t>
            </a:r>
            <a:endParaRPr lang="en-IN" sz="4000" b="1" dirty="0">
              <a:solidFill>
                <a:srgbClr val="FFC000"/>
              </a:solidFill>
              <a:latin typeface="Arial Black" panose="020B0A04020102020204" pitchFamily="34" charset="0"/>
            </a:endParaRPr>
          </a:p>
        </p:txBody>
      </p:sp>
      <p:sp>
        <p:nvSpPr>
          <p:cNvPr id="6" name="TextBox 5">
            <a:extLst>
              <a:ext uri="{FF2B5EF4-FFF2-40B4-BE49-F238E27FC236}">
                <a16:creationId xmlns:a16="http://schemas.microsoft.com/office/drawing/2014/main" id="{7DD016DA-1279-BD5E-E7C3-97DE75E8A48E}"/>
              </a:ext>
            </a:extLst>
          </p:cNvPr>
          <p:cNvSpPr txBox="1"/>
          <p:nvPr/>
        </p:nvSpPr>
        <p:spPr>
          <a:xfrm>
            <a:off x="521110" y="1814014"/>
            <a:ext cx="11149780" cy="4278094"/>
          </a:xfrm>
          <a:prstGeom prst="rect">
            <a:avLst/>
          </a:prstGeom>
          <a:noFill/>
        </p:spPr>
        <p:txBody>
          <a:bodyPr wrap="square" rtlCol="0">
            <a:spAutoFit/>
          </a:bodyPr>
          <a:lstStyle/>
          <a:p>
            <a:pPr marL="285750" indent="-285750">
              <a:buFont typeface="Arial" panose="020B0604020202020204" pitchFamily="34" charset="0"/>
              <a:buChar char="•"/>
            </a:pPr>
            <a:r>
              <a:rPr lang="en-GB" sz="1600" dirty="0">
                <a:solidFill>
                  <a:schemeClr val="bg2"/>
                </a:solidFill>
                <a:latin typeface="Arial Rounded MT Bold" panose="020F0704030504030204" pitchFamily="34" charset="0"/>
              </a:rPr>
              <a:t>The system helps in early prediction of earthquake impact, allowing better disaster preparedness and planning.</a:t>
            </a:r>
          </a:p>
          <a:p>
            <a:pPr marL="285750" indent="-285750">
              <a:buFont typeface="Arial" panose="020B0604020202020204" pitchFamily="34" charset="0"/>
              <a:buChar char="•"/>
            </a:pPr>
            <a:endParaRPr lang="en-GB" sz="1600" dirty="0">
              <a:solidFill>
                <a:schemeClr val="bg2"/>
              </a:solidFill>
              <a:latin typeface="Arial Rounded MT Bold" panose="020F0704030504030204" pitchFamily="34" charset="0"/>
            </a:endParaRPr>
          </a:p>
          <a:p>
            <a:pPr marL="285750" indent="-285750">
              <a:buFont typeface="Arial" panose="020B0604020202020204" pitchFamily="34" charset="0"/>
              <a:buChar char="•"/>
            </a:pPr>
            <a:r>
              <a:rPr lang="en-GB" sz="1600" dirty="0">
                <a:solidFill>
                  <a:schemeClr val="bg2"/>
                </a:solidFill>
                <a:latin typeface="Arial Rounded MT Bold" panose="020F0704030504030204" pitchFamily="34" charset="0"/>
              </a:rPr>
              <a:t>It assists individuals and authorities in making quick and informed decisions during emergency situations.</a:t>
            </a:r>
          </a:p>
          <a:p>
            <a:pPr marL="285750" indent="-285750">
              <a:buFont typeface="Arial" panose="020B0604020202020204" pitchFamily="34" charset="0"/>
              <a:buChar char="•"/>
            </a:pPr>
            <a:endParaRPr lang="en-GB" sz="1600" dirty="0">
              <a:solidFill>
                <a:schemeClr val="bg2"/>
              </a:solidFill>
              <a:latin typeface="Arial Rounded MT Bold" panose="020F0704030504030204" pitchFamily="34" charset="0"/>
            </a:endParaRPr>
          </a:p>
          <a:p>
            <a:pPr marL="285750" indent="-285750">
              <a:buFont typeface="Arial" panose="020B0604020202020204" pitchFamily="34" charset="0"/>
              <a:buChar char="•"/>
            </a:pPr>
            <a:r>
              <a:rPr lang="en-GB" sz="1600" dirty="0">
                <a:solidFill>
                  <a:schemeClr val="bg2"/>
                </a:solidFill>
                <a:latin typeface="Arial Rounded MT Bold" panose="020F0704030504030204" pitchFamily="34" charset="0"/>
              </a:rPr>
              <a:t>By providing advance insights, it helps in reducing the loss of human life and minimizing damage to infrastructure.</a:t>
            </a:r>
          </a:p>
          <a:p>
            <a:pPr marL="285750" indent="-285750">
              <a:buFont typeface="Arial" panose="020B0604020202020204" pitchFamily="34" charset="0"/>
              <a:buChar char="•"/>
            </a:pPr>
            <a:endParaRPr lang="en-GB" sz="1600" dirty="0">
              <a:solidFill>
                <a:schemeClr val="bg2"/>
              </a:solidFill>
              <a:latin typeface="Arial Rounded MT Bold" panose="020F0704030504030204" pitchFamily="34" charset="0"/>
            </a:endParaRPr>
          </a:p>
          <a:p>
            <a:pPr marL="285750" indent="-285750">
              <a:buFont typeface="Arial" panose="020B0604020202020204" pitchFamily="34" charset="0"/>
              <a:buChar char="•"/>
            </a:pPr>
            <a:r>
              <a:rPr lang="en-GB" sz="1600" dirty="0">
                <a:solidFill>
                  <a:schemeClr val="bg2"/>
                </a:solidFill>
                <a:latin typeface="Arial Rounded MT Bold" panose="020F0704030504030204" pitchFamily="34" charset="0"/>
              </a:rPr>
              <a:t>The system uses machine learning techniques to deliver accurate and reliable predictions based on data.</a:t>
            </a:r>
          </a:p>
          <a:p>
            <a:pPr marL="285750" indent="-285750">
              <a:buFont typeface="Arial" panose="020B0604020202020204" pitchFamily="34" charset="0"/>
              <a:buChar char="•"/>
            </a:pPr>
            <a:endParaRPr lang="en-GB" sz="1600" dirty="0">
              <a:solidFill>
                <a:schemeClr val="bg2"/>
              </a:solidFill>
              <a:latin typeface="Arial Rounded MT Bold" panose="020F0704030504030204" pitchFamily="34" charset="0"/>
            </a:endParaRPr>
          </a:p>
          <a:p>
            <a:pPr marL="285750" indent="-285750">
              <a:buFont typeface="Arial" panose="020B0604020202020204" pitchFamily="34" charset="0"/>
              <a:buChar char="•"/>
            </a:pPr>
            <a:r>
              <a:rPr lang="en-GB" sz="1600" dirty="0">
                <a:solidFill>
                  <a:schemeClr val="bg2"/>
                </a:solidFill>
                <a:latin typeface="Arial Rounded MT Bold" panose="020F0704030504030204" pitchFamily="34" charset="0"/>
              </a:rPr>
              <a:t>It increases awareness among people about earthquake risks and necessary safety measures.</a:t>
            </a:r>
          </a:p>
          <a:p>
            <a:pPr marL="285750" indent="-285750">
              <a:buFont typeface="Arial" panose="020B0604020202020204" pitchFamily="34" charset="0"/>
              <a:buChar char="•"/>
            </a:pPr>
            <a:endParaRPr lang="en-GB" sz="1600" dirty="0">
              <a:solidFill>
                <a:schemeClr val="bg2"/>
              </a:solidFill>
              <a:latin typeface="Arial Rounded MT Bold" panose="020F0704030504030204" pitchFamily="34" charset="0"/>
            </a:endParaRPr>
          </a:p>
          <a:p>
            <a:pPr marL="285750" indent="-285750">
              <a:buFont typeface="Arial" panose="020B0604020202020204" pitchFamily="34" charset="0"/>
              <a:buChar char="•"/>
            </a:pPr>
            <a:r>
              <a:rPr lang="en-GB" sz="1600" dirty="0">
                <a:solidFill>
                  <a:schemeClr val="bg2"/>
                </a:solidFill>
                <a:latin typeface="Arial Rounded MT Bold" panose="020F0704030504030204" pitchFamily="34" charset="0"/>
              </a:rPr>
              <a:t>The system provides simple and easy-to-understand results, making it useful for all types of users.</a:t>
            </a:r>
          </a:p>
          <a:p>
            <a:pPr marL="285750" indent="-285750">
              <a:buFont typeface="Arial" panose="020B0604020202020204" pitchFamily="34" charset="0"/>
              <a:buChar char="•"/>
            </a:pPr>
            <a:endParaRPr lang="en-GB" sz="1600" dirty="0">
              <a:solidFill>
                <a:schemeClr val="bg2"/>
              </a:solidFill>
              <a:latin typeface="Arial Rounded MT Bold" panose="020F0704030504030204" pitchFamily="34" charset="0"/>
            </a:endParaRPr>
          </a:p>
          <a:p>
            <a:pPr marL="285750" indent="-285750">
              <a:buFont typeface="Arial" panose="020B0604020202020204" pitchFamily="34" charset="0"/>
              <a:buChar char="•"/>
            </a:pPr>
            <a:r>
              <a:rPr lang="en-GB" sz="1600" dirty="0">
                <a:solidFill>
                  <a:schemeClr val="bg2"/>
                </a:solidFill>
                <a:latin typeface="Arial Rounded MT Bold" panose="020F0704030504030204" pitchFamily="34" charset="0"/>
              </a:rPr>
              <a:t>It can be further enhanced by integrating real-time earthquake data for continuous monitoring.</a:t>
            </a:r>
          </a:p>
          <a:p>
            <a:pPr marL="285750" indent="-285750">
              <a:buFont typeface="Arial" panose="020B0604020202020204" pitchFamily="34" charset="0"/>
              <a:buChar char="•"/>
            </a:pPr>
            <a:endParaRPr lang="en-GB" sz="1600" dirty="0">
              <a:solidFill>
                <a:schemeClr val="bg2"/>
              </a:solidFill>
              <a:latin typeface="Arial Rounded MT Bold" panose="020F0704030504030204" pitchFamily="34" charset="0"/>
            </a:endParaRPr>
          </a:p>
          <a:p>
            <a:pPr marL="285750" indent="-285750">
              <a:buFont typeface="Arial" panose="020B0604020202020204" pitchFamily="34" charset="0"/>
              <a:buChar char="•"/>
            </a:pPr>
            <a:r>
              <a:rPr lang="en-GB" sz="1600" dirty="0">
                <a:solidFill>
                  <a:schemeClr val="bg2"/>
                </a:solidFill>
                <a:latin typeface="Arial Rounded MT Bold" panose="020F0704030504030204" pitchFamily="34" charset="0"/>
              </a:rPr>
              <a:t>The project can be extended for large-scale applications like government disaster management systems.</a:t>
            </a:r>
            <a:endParaRPr lang="en-IN" sz="1600" dirty="0">
              <a:solidFill>
                <a:schemeClr val="bg2"/>
              </a:solidFill>
              <a:latin typeface="Arial Rounded MT Bold" panose="020F0704030504030204" pitchFamily="34" charset="0"/>
            </a:endParaRPr>
          </a:p>
        </p:txBody>
      </p:sp>
    </p:spTree>
    <p:extLst>
      <p:ext uri="{BB962C8B-B14F-4D97-AF65-F5344CB8AC3E}">
        <p14:creationId xmlns:p14="http://schemas.microsoft.com/office/powerpoint/2010/main" val="39841949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1000"/>
                                        <p:tgtEl>
                                          <p:spTgt spid="6">
                                            <p:txEl>
                                              <p:pRg st="0" end="0"/>
                                            </p:txEl>
                                          </p:spTgt>
                                        </p:tgtEl>
                                      </p:cBhvr>
                                    </p:animEffect>
                                    <p:anim calcmode="lin" valueType="num">
                                      <p:cBhvr>
                                        <p:cTn id="8"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6">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6">
                                            <p:txEl>
                                              <p:pRg st="2" end="2"/>
                                            </p:txEl>
                                          </p:spTgt>
                                        </p:tgtEl>
                                        <p:attrNameLst>
                                          <p:attrName>style.visibility</p:attrName>
                                        </p:attrNameLst>
                                      </p:cBhvr>
                                      <p:to>
                                        <p:strVal val="visible"/>
                                      </p:to>
                                    </p:set>
                                    <p:animEffect transition="in" filter="fade">
                                      <p:cBhvr>
                                        <p:cTn id="12" dur="1000"/>
                                        <p:tgtEl>
                                          <p:spTgt spid="6">
                                            <p:txEl>
                                              <p:pRg st="2" end="2"/>
                                            </p:txEl>
                                          </p:spTgt>
                                        </p:tgtEl>
                                      </p:cBhvr>
                                    </p:animEffect>
                                    <p:anim calcmode="lin" valueType="num">
                                      <p:cBhvr>
                                        <p:cTn id="13" dur="1000" fill="hold"/>
                                        <p:tgtEl>
                                          <p:spTgt spid="6">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6">
                                            <p:txEl>
                                              <p:pRg st="2" end="2"/>
                                            </p:txEl>
                                          </p:spTgt>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6">
                                            <p:txEl>
                                              <p:pRg st="4" end="4"/>
                                            </p:txEl>
                                          </p:spTgt>
                                        </p:tgtEl>
                                        <p:attrNameLst>
                                          <p:attrName>style.visibility</p:attrName>
                                        </p:attrNameLst>
                                      </p:cBhvr>
                                      <p:to>
                                        <p:strVal val="visible"/>
                                      </p:to>
                                    </p:set>
                                    <p:animEffect transition="in" filter="fade">
                                      <p:cBhvr>
                                        <p:cTn id="17" dur="1000"/>
                                        <p:tgtEl>
                                          <p:spTgt spid="6">
                                            <p:txEl>
                                              <p:pRg st="4" end="4"/>
                                            </p:txEl>
                                          </p:spTgt>
                                        </p:tgtEl>
                                      </p:cBhvr>
                                    </p:animEffect>
                                    <p:anim calcmode="lin" valueType="num">
                                      <p:cBhvr>
                                        <p:cTn id="18" dur="1000" fill="hold"/>
                                        <p:tgtEl>
                                          <p:spTgt spid="6">
                                            <p:txEl>
                                              <p:pRg st="4" end="4"/>
                                            </p:txEl>
                                          </p:spTgt>
                                        </p:tgtEl>
                                        <p:attrNameLst>
                                          <p:attrName>ppt_x</p:attrName>
                                        </p:attrNameLst>
                                      </p:cBhvr>
                                      <p:tavLst>
                                        <p:tav tm="0">
                                          <p:val>
                                            <p:strVal val="#ppt_x"/>
                                          </p:val>
                                        </p:tav>
                                        <p:tav tm="100000">
                                          <p:val>
                                            <p:strVal val="#ppt_x"/>
                                          </p:val>
                                        </p:tav>
                                      </p:tavLst>
                                    </p:anim>
                                    <p:anim calcmode="lin" valueType="num">
                                      <p:cBhvr>
                                        <p:cTn id="19" dur="1000" fill="hold"/>
                                        <p:tgtEl>
                                          <p:spTgt spid="6">
                                            <p:txEl>
                                              <p:pRg st="4" end="4"/>
                                            </p:txEl>
                                          </p:spTgt>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6">
                                            <p:txEl>
                                              <p:pRg st="6" end="6"/>
                                            </p:txEl>
                                          </p:spTgt>
                                        </p:tgtEl>
                                        <p:attrNameLst>
                                          <p:attrName>style.visibility</p:attrName>
                                        </p:attrNameLst>
                                      </p:cBhvr>
                                      <p:to>
                                        <p:strVal val="visible"/>
                                      </p:to>
                                    </p:set>
                                    <p:animEffect transition="in" filter="fade">
                                      <p:cBhvr>
                                        <p:cTn id="22" dur="1000"/>
                                        <p:tgtEl>
                                          <p:spTgt spid="6">
                                            <p:txEl>
                                              <p:pRg st="6" end="6"/>
                                            </p:txEl>
                                          </p:spTgt>
                                        </p:tgtEl>
                                      </p:cBhvr>
                                    </p:animEffect>
                                    <p:anim calcmode="lin" valueType="num">
                                      <p:cBhvr>
                                        <p:cTn id="23" dur="1000" fill="hold"/>
                                        <p:tgtEl>
                                          <p:spTgt spid="6">
                                            <p:txEl>
                                              <p:pRg st="6" end="6"/>
                                            </p:txEl>
                                          </p:spTgt>
                                        </p:tgtEl>
                                        <p:attrNameLst>
                                          <p:attrName>ppt_x</p:attrName>
                                        </p:attrNameLst>
                                      </p:cBhvr>
                                      <p:tavLst>
                                        <p:tav tm="0">
                                          <p:val>
                                            <p:strVal val="#ppt_x"/>
                                          </p:val>
                                        </p:tav>
                                        <p:tav tm="100000">
                                          <p:val>
                                            <p:strVal val="#ppt_x"/>
                                          </p:val>
                                        </p:tav>
                                      </p:tavLst>
                                    </p:anim>
                                    <p:anim calcmode="lin" valueType="num">
                                      <p:cBhvr>
                                        <p:cTn id="24" dur="1000" fill="hold"/>
                                        <p:tgtEl>
                                          <p:spTgt spid="6">
                                            <p:txEl>
                                              <p:pRg st="6" end="6"/>
                                            </p:txEl>
                                          </p:spTgt>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6">
                                            <p:txEl>
                                              <p:pRg st="8" end="8"/>
                                            </p:txEl>
                                          </p:spTgt>
                                        </p:tgtEl>
                                        <p:attrNameLst>
                                          <p:attrName>style.visibility</p:attrName>
                                        </p:attrNameLst>
                                      </p:cBhvr>
                                      <p:to>
                                        <p:strVal val="visible"/>
                                      </p:to>
                                    </p:set>
                                    <p:animEffect transition="in" filter="fade">
                                      <p:cBhvr>
                                        <p:cTn id="27" dur="1000"/>
                                        <p:tgtEl>
                                          <p:spTgt spid="6">
                                            <p:txEl>
                                              <p:pRg st="8" end="8"/>
                                            </p:txEl>
                                          </p:spTgt>
                                        </p:tgtEl>
                                      </p:cBhvr>
                                    </p:animEffect>
                                    <p:anim calcmode="lin" valueType="num">
                                      <p:cBhvr>
                                        <p:cTn id="28" dur="1000" fill="hold"/>
                                        <p:tgtEl>
                                          <p:spTgt spid="6">
                                            <p:txEl>
                                              <p:pRg st="8" end="8"/>
                                            </p:txEl>
                                          </p:spTgt>
                                        </p:tgtEl>
                                        <p:attrNameLst>
                                          <p:attrName>ppt_x</p:attrName>
                                        </p:attrNameLst>
                                      </p:cBhvr>
                                      <p:tavLst>
                                        <p:tav tm="0">
                                          <p:val>
                                            <p:strVal val="#ppt_x"/>
                                          </p:val>
                                        </p:tav>
                                        <p:tav tm="100000">
                                          <p:val>
                                            <p:strVal val="#ppt_x"/>
                                          </p:val>
                                        </p:tav>
                                      </p:tavLst>
                                    </p:anim>
                                    <p:anim calcmode="lin" valueType="num">
                                      <p:cBhvr>
                                        <p:cTn id="29" dur="1000" fill="hold"/>
                                        <p:tgtEl>
                                          <p:spTgt spid="6">
                                            <p:txEl>
                                              <p:pRg st="8" end="8"/>
                                            </p:txEl>
                                          </p:spTgt>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6">
                                            <p:txEl>
                                              <p:pRg st="10" end="10"/>
                                            </p:txEl>
                                          </p:spTgt>
                                        </p:tgtEl>
                                        <p:attrNameLst>
                                          <p:attrName>style.visibility</p:attrName>
                                        </p:attrNameLst>
                                      </p:cBhvr>
                                      <p:to>
                                        <p:strVal val="visible"/>
                                      </p:to>
                                    </p:set>
                                    <p:animEffect transition="in" filter="fade">
                                      <p:cBhvr>
                                        <p:cTn id="32" dur="1000"/>
                                        <p:tgtEl>
                                          <p:spTgt spid="6">
                                            <p:txEl>
                                              <p:pRg st="10" end="10"/>
                                            </p:txEl>
                                          </p:spTgt>
                                        </p:tgtEl>
                                      </p:cBhvr>
                                    </p:animEffect>
                                    <p:anim calcmode="lin" valueType="num">
                                      <p:cBhvr>
                                        <p:cTn id="33" dur="1000" fill="hold"/>
                                        <p:tgtEl>
                                          <p:spTgt spid="6">
                                            <p:txEl>
                                              <p:pRg st="10" end="10"/>
                                            </p:txEl>
                                          </p:spTgt>
                                        </p:tgtEl>
                                        <p:attrNameLst>
                                          <p:attrName>ppt_x</p:attrName>
                                        </p:attrNameLst>
                                      </p:cBhvr>
                                      <p:tavLst>
                                        <p:tav tm="0">
                                          <p:val>
                                            <p:strVal val="#ppt_x"/>
                                          </p:val>
                                        </p:tav>
                                        <p:tav tm="100000">
                                          <p:val>
                                            <p:strVal val="#ppt_x"/>
                                          </p:val>
                                        </p:tav>
                                      </p:tavLst>
                                    </p:anim>
                                    <p:anim calcmode="lin" valueType="num">
                                      <p:cBhvr>
                                        <p:cTn id="34" dur="1000" fill="hold"/>
                                        <p:tgtEl>
                                          <p:spTgt spid="6">
                                            <p:txEl>
                                              <p:pRg st="10" end="10"/>
                                            </p:txEl>
                                          </p:spTgt>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6">
                                            <p:txEl>
                                              <p:pRg st="12" end="12"/>
                                            </p:txEl>
                                          </p:spTgt>
                                        </p:tgtEl>
                                        <p:attrNameLst>
                                          <p:attrName>style.visibility</p:attrName>
                                        </p:attrNameLst>
                                      </p:cBhvr>
                                      <p:to>
                                        <p:strVal val="visible"/>
                                      </p:to>
                                    </p:set>
                                    <p:animEffect transition="in" filter="fade">
                                      <p:cBhvr>
                                        <p:cTn id="37" dur="1000"/>
                                        <p:tgtEl>
                                          <p:spTgt spid="6">
                                            <p:txEl>
                                              <p:pRg st="12" end="12"/>
                                            </p:txEl>
                                          </p:spTgt>
                                        </p:tgtEl>
                                      </p:cBhvr>
                                    </p:animEffect>
                                    <p:anim calcmode="lin" valueType="num">
                                      <p:cBhvr>
                                        <p:cTn id="38" dur="1000" fill="hold"/>
                                        <p:tgtEl>
                                          <p:spTgt spid="6">
                                            <p:txEl>
                                              <p:pRg st="12" end="12"/>
                                            </p:txEl>
                                          </p:spTgt>
                                        </p:tgtEl>
                                        <p:attrNameLst>
                                          <p:attrName>ppt_x</p:attrName>
                                        </p:attrNameLst>
                                      </p:cBhvr>
                                      <p:tavLst>
                                        <p:tav tm="0">
                                          <p:val>
                                            <p:strVal val="#ppt_x"/>
                                          </p:val>
                                        </p:tav>
                                        <p:tav tm="100000">
                                          <p:val>
                                            <p:strVal val="#ppt_x"/>
                                          </p:val>
                                        </p:tav>
                                      </p:tavLst>
                                    </p:anim>
                                    <p:anim calcmode="lin" valueType="num">
                                      <p:cBhvr>
                                        <p:cTn id="39" dur="1000" fill="hold"/>
                                        <p:tgtEl>
                                          <p:spTgt spid="6">
                                            <p:txEl>
                                              <p:pRg st="12" end="12"/>
                                            </p:txEl>
                                          </p:spTgt>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0"/>
                                  </p:stCondLst>
                                  <p:childTnLst>
                                    <p:set>
                                      <p:cBhvr>
                                        <p:cTn id="41" dur="1" fill="hold">
                                          <p:stCondLst>
                                            <p:cond delay="0"/>
                                          </p:stCondLst>
                                        </p:cTn>
                                        <p:tgtEl>
                                          <p:spTgt spid="6">
                                            <p:txEl>
                                              <p:pRg st="14" end="14"/>
                                            </p:txEl>
                                          </p:spTgt>
                                        </p:tgtEl>
                                        <p:attrNameLst>
                                          <p:attrName>style.visibility</p:attrName>
                                        </p:attrNameLst>
                                      </p:cBhvr>
                                      <p:to>
                                        <p:strVal val="visible"/>
                                      </p:to>
                                    </p:set>
                                    <p:animEffect transition="in" filter="fade">
                                      <p:cBhvr>
                                        <p:cTn id="42" dur="1000"/>
                                        <p:tgtEl>
                                          <p:spTgt spid="6">
                                            <p:txEl>
                                              <p:pRg st="14" end="14"/>
                                            </p:txEl>
                                          </p:spTgt>
                                        </p:tgtEl>
                                      </p:cBhvr>
                                    </p:animEffect>
                                    <p:anim calcmode="lin" valueType="num">
                                      <p:cBhvr>
                                        <p:cTn id="43" dur="1000" fill="hold"/>
                                        <p:tgtEl>
                                          <p:spTgt spid="6">
                                            <p:txEl>
                                              <p:pRg st="14" end="14"/>
                                            </p:txEl>
                                          </p:spTgt>
                                        </p:tgtEl>
                                        <p:attrNameLst>
                                          <p:attrName>ppt_x</p:attrName>
                                        </p:attrNameLst>
                                      </p:cBhvr>
                                      <p:tavLst>
                                        <p:tav tm="0">
                                          <p:val>
                                            <p:strVal val="#ppt_x"/>
                                          </p:val>
                                        </p:tav>
                                        <p:tav tm="100000">
                                          <p:val>
                                            <p:strVal val="#ppt_x"/>
                                          </p:val>
                                        </p:tav>
                                      </p:tavLst>
                                    </p:anim>
                                    <p:anim calcmode="lin" valueType="num">
                                      <p:cBhvr>
                                        <p:cTn id="44" dur="1000" fill="hold"/>
                                        <p:tgtEl>
                                          <p:spTgt spid="6">
                                            <p:txEl>
                                              <p:pRg st="14" end="1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allAtOnce"/>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0D5CF75-500C-217A-1596-5682223200CC}"/>
              </a:ext>
            </a:extLst>
          </p:cNvPr>
          <p:cNvSpPr/>
          <p:nvPr/>
        </p:nvSpPr>
        <p:spPr>
          <a:xfrm>
            <a:off x="0" y="0"/>
            <a:ext cx="12192000" cy="6858000"/>
          </a:xfrm>
          <a:prstGeom prst="rect">
            <a:avLst/>
          </a:prstGeom>
          <a:solidFill>
            <a:schemeClr val="dk1">
              <a:alpha val="50000"/>
            </a:schemeClr>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123EAEF9-CCDF-AEBD-EE19-8D6280BC7312}"/>
              </a:ext>
            </a:extLst>
          </p:cNvPr>
          <p:cNvSpPr txBox="1"/>
          <p:nvPr/>
        </p:nvSpPr>
        <p:spPr>
          <a:xfrm>
            <a:off x="3657601" y="924232"/>
            <a:ext cx="7197213" cy="707886"/>
          </a:xfrm>
          <a:prstGeom prst="rect">
            <a:avLst/>
          </a:prstGeom>
          <a:noFill/>
        </p:spPr>
        <p:txBody>
          <a:bodyPr wrap="square" rtlCol="0">
            <a:spAutoFit/>
          </a:bodyPr>
          <a:lstStyle/>
          <a:p>
            <a:r>
              <a:rPr lang="en-GB" sz="4000" b="1" dirty="0">
                <a:solidFill>
                  <a:srgbClr val="FFC000"/>
                </a:solidFill>
                <a:latin typeface="Arial Black" panose="020B0A04020102020204" pitchFamily="34" charset="0"/>
              </a:rPr>
              <a:t>CONCLUSION</a:t>
            </a:r>
            <a:endParaRPr lang="en-IN" sz="4000" b="1" dirty="0">
              <a:solidFill>
                <a:srgbClr val="FFC000"/>
              </a:solidFill>
              <a:latin typeface="Arial Black" panose="020B0A04020102020204" pitchFamily="34" charset="0"/>
            </a:endParaRPr>
          </a:p>
        </p:txBody>
      </p:sp>
      <p:sp>
        <p:nvSpPr>
          <p:cNvPr id="6" name="TextBox 5">
            <a:extLst>
              <a:ext uri="{FF2B5EF4-FFF2-40B4-BE49-F238E27FC236}">
                <a16:creationId xmlns:a16="http://schemas.microsoft.com/office/drawing/2014/main" id="{35F7F8AC-A54B-8186-2770-8B3D547EB175}"/>
              </a:ext>
            </a:extLst>
          </p:cNvPr>
          <p:cNvSpPr txBox="1"/>
          <p:nvPr/>
        </p:nvSpPr>
        <p:spPr>
          <a:xfrm>
            <a:off x="1327355" y="1859339"/>
            <a:ext cx="9389807" cy="3323987"/>
          </a:xfrm>
          <a:prstGeom prst="rect">
            <a:avLst/>
          </a:prstGeom>
          <a:noFill/>
        </p:spPr>
        <p:txBody>
          <a:bodyPr wrap="square" rtlCol="0">
            <a:spAutoFit/>
          </a:bodyPr>
          <a:lstStyle/>
          <a:p>
            <a:endParaRPr lang="en-GB" dirty="0">
              <a:solidFill>
                <a:schemeClr val="bg1"/>
              </a:solidFill>
            </a:endParaRPr>
          </a:p>
          <a:p>
            <a:pPr marL="285750" indent="-285750">
              <a:buFont typeface="Arial" panose="020B0604020202020204" pitchFamily="34" charset="0"/>
              <a:buChar char="•"/>
            </a:pPr>
            <a:r>
              <a:rPr lang="en-GB" sz="1600" dirty="0">
                <a:solidFill>
                  <a:schemeClr val="bg1"/>
                </a:solidFill>
                <a:latin typeface="Arial Rounded MT Bold" panose="020F0704030504030204" pitchFamily="34" charset="0"/>
              </a:rPr>
              <a:t>This project introduces an AI-based system for predicting earthquake impact by </a:t>
            </a:r>
            <a:r>
              <a:rPr lang="en-GB" sz="1600" dirty="0" err="1">
                <a:solidFill>
                  <a:schemeClr val="bg1"/>
                </a:solidFill>
                <a:latin typeface="Arial Rounded MT Bold" panose="020F0704030504030204" pitchFamily="34" charset="0"/>
              </a:rPr>
              <a:t>analyzing</a:t>
            </a:r>
            <a:r>
              <a:rPr lang="en-GB" sz="1600" dirty="0">
                <a:solidFill>
                  <a:schemeClr val="bg1"/>
                </a:solidFill>
                <a:latin typeface="Arial Rounded MT Bold" panose="020F0704030504030204" pitchFamily="34" charset="0"/>
              </a:rPr>
              <a:t> key seismic factors such as magnitude, depth, CDI, MMI, and significance. Using machine learning algorithms, the system classifies earthquakes into different risk levels like low, moderate, and high, converting complex data into simple and understandable insights for users.</a:t>
            </a:r>
          </a:p>
          <a:p>
            <a:endParaRPr lang="en-GB" sz="1600" dirty="0">
              <a:solidFill>
                <a:schemeClr val="bg1"/>
              </a:solidFill>
              <a:latin typeface="Arial Rounded MT Bold" panose="020F0704030504030204" pitchFamily="34" charset="0"/>
            </a:endParaRPr>
          </a:p>
          <a:p>
            <a:endParaRPr lang="en-GB" sz="1600" dirty="0">
              <a:solidFill>
                <a:schemeClr val="bg1"/>
              </a:solidFill>
              <a:latin typeface="Arial Rounded MT Bold" panose="020F0704030504030204" pitchFamily="34" charset="0"/>
            </a:endParaRPr>
          </a:p>
          <a:p>
            <a:pPr marL="285750" indent="-285750">
              <a:buFont typeface="Arial" panose="020B0604020202020204" pitchFamily="34" charset="0"/>
              <a:buChar char="•"/>
            </a:pPr>
            <a:r>
              <a:rPr lang="en-GB" sz="1600" dirty="0">
                <a:solidFill>
                  <a:schemeClr val="bg1"/>
                </a:solidFill>
                <a:latin typeface="Arial Rounded MT Bold" panose="020F0704030504030204" pitchFamily="34" charset="0"/>
              </a:rPr>
              <a:t>Overall, the system supports better disaster awareness and preparedness by delivering fast and reliable predictions. It enables users to evaluate potential risks and take necessary safety measures in advance. In the future, the system can be enhanced by integrating real-time data and more advanced models to improve accuracy and practical usability.</a:t>
            </a:r>
            <a:endParaRPr lang="en-IN" sz="1600" dirty="0">
              <a:solidFill>
                <a:schemeClr val="bg1"/>
              </a:solidFill>
              <a:latin typeface="Arial Rounded MT Bold" panose="020F0704030504030204" pitchFamily="34" charset="0"/>
            </a:endParaRPr>
          </a:p>
        </p:txBody>
      </p:sp>
      <p:sp>
        <p:nvSpPr>
          <p:cNvPr id="8" name="TextBox 7">
            <a:extLst>
              <a:ext uri="{FF2B5EF4-FFF2-40B4-BE49-F238E27FC236}">
                <a16:creationId xmlns:a16="http://schemas.microsoft.com/office/drawing/2014/main" id="{E77C2577-0FEB-F6A9-BCF9-B8BB45136B81}"/>
              </a:ext>
            </a:extLst>
          </p:cNvPr>
          <p:cNvSpPr txBox="1"/>
          <p:nvPr/>
        </p:nvSpPr>
        <p:spPr>
          <a:xfrm>
            <a:off x="2974258" y="5564436"/>
            <a:ext cx="8996516" cy="369332"/>
          </a:xfrm>
          <a:prstGeom prst="rect">
            <a:avLst/>
          </a:prstGeom>
          <a:noFill/>
        </p:spPr>
        <p:txBody>
          <a:bodyPr wrap="square" rtlCol="0">
            <a:spAutoFit/>
          </a:bodyPr>
          <a:lstStyle/>
          <a:p>
            <a:r>
              <a:rPr lang="en-IN" dirty="0">
                <a:solidFill>
                  <a:srgbClr val="FFC000"/>
                </a:solidFill>
              </a:rPr>
              <a:t>LIVE WEBSITE :-  </a:t>
            </a:r>
            <a:r>
              <a:rPr lang="en-IN" dirty="0">
                <a:solidFill>
                  <a:srgbClr val="FFC000"/>
                </a:solidFill>
                <a:hlinkClick r:id="rId2">
                  <a:extLst>
                    <a:ext uri="{A12FA001-AC4F-418D-AE19-62706E023703}">
                      <ahyp:hlinkClr xmlns:ahyp="http://schemas.microsoft.com/office/drawing/2018/hyperlinkcolor" val="tx"/>
                    </a:ext>
                  </a:extLst>
                </a:hlinkClick>
              </a:rPr>
              <a:t>https://impact-sense-one.vercel.app</a:t>
            </a:r>
            <a:endParaRPr lang="en-IN" dirty="0">
              <a:solidFill>
                <a:srgbClr val="FFC000"/>
              </a:solidFill>
            </a:endParaRPr>
          </a:p>
        </p:txBody>
      </p:sp>
    </p:spTree>
    <p:extLst>
      <p:ext uri="{BB962C8B-B14F-4D97-AF65-F5344CB8AC3E}">
        <p14:creationId xmlns:p14="http://schemas.microsoft.com/office/powerpoint/2010/main" val="23255016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248</TotalTime>
  <Words>901</Words>
  <Application>Microsoft Office PowerPoint</Application>
  <PresentationFormat>Widescreen</PresentationFormat>
  <Paragraphs>78</Paragraphs>
  <Slides>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Arial</vt:lpstr>
      <vt:lpstr>Arial Black</vt:lpstr>
      <vt:lpstr>Arial Rounded MT Bold</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mi</dc:creator>
  <cp:lastModifiedBy>mi</cp:lastModifiedBy>
  <cp:revision>2</cp:revision>
  <dcterms:created xsi:type="dcterms:W3CDTF">2026-04-03T10:53:30Z</dcterms:created>
  <dcterms:modified xsi:type="dcterms:W3CDTF">2026-04-03T15:02:03Z</dcterms:modified>
</cp:coreProperties>
</file>