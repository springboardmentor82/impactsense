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1"/>
  </p:notesMasterIdLst>
  <p:sldIdLst>
    <p:sldId id="256" r:id="rId2"/>
    <p:sldId id="268" r:id="rId3"/>
    <p:sldId id="307" r:id="rId4"/>
    <p:sldId id="281" r:id="rId5"/>
    <p:sldId id="304" r:id="rId6"/>
    <p:sldId id="311" r:id="rId7"/>
    <p:sldId id="314" r:id="rId8"/>
    <p:sldId id="318" r:id="rId9"/>
    <p:sldId id="265" r:id="rId10"/>
  </p:sldIdLst>
  <p:sldSz cx="9144000" cy="5143500" type="screen16x9"/>
  <p:notesSz cx="6858000" cy="9144000"/>
  <p:embeddedFontLst>
    <p:embeddedFont>
      <p:font typeface="Audiowide" panose="020B0604020202020204" charset="0"/>
      <p:regular r:id="rId12"/>
    </p:embeddedFont>
    <p:embeddedFont>
      <p:font typeface="Karla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8939CD-F290-406F-98B5-ADF1E582919C}">
  <a:tblStyle styleId="{188939CD-F290-406F-98B5-ADF1E58291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91" d="100"/>
          <a:sy n="91" d="100"/>
        </p:scale>
        <p:origin x="78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596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e0a8b09948_0_1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e0a8b09948_0_1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4591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3086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1ed1af4641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1ed1af4641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25850" y="3778500"/>
            <a:ext cx="5892300" cy="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1050" y="-447675"/>
            <a:ext cx="5892301" cy="3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261050" y="1962150"/>
            <a:ext cx="5892301" cy="36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4381506" y="887025"/>
            <a:ext cx="4038600" cy="95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4381500" y="1843575"/>
            <a:ext cx="4038600" cy="24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pic>
        <p:nvPicPr>
          <p:cNvPr id="63" name="Google Shape;63;p7"/>
          <p:cNvPicPr preferRelativeResize="0"/>
          <p:nvPr/>
        </p:nvPicPr>
        <p:blipFill rotWithShape="1">
          <a:blip r:embed="rId3">
            <a:alphaModFix amt="75000"/>
          </a:blip>
          <a:srcRect l="24156" t="16304"/>
          <a:stretch/>
        </p:blipFill>
        <p:spPr>
          <a:xfrm rot="5400000">
            <a:off x="5767588" y="527636"/>
            <a:ext cx="4294574" cy="29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 rot="300">
            <a:off x="720000" y="3295650"/>
            <a:ext cx="3433500" cy="120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1"/>
          </p:nvPr>
        </p:nvSpPr>
        <p:spPr>
          <a:xfrm>
            <a:off x="720000" y="1456400"/>
            <a:ext cx="7704000" cy="259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 b="1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 rot="5400000">
            <a:off x="5369415" y="-442041"/>
            <a:ext cx="5662423" cy="350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3">
            <a:alphaModFix amt="75000"/>
          </a:blip>
          <a:srcRect l="-60" t="537"/>
          <a:stretch/>
        </p:blipFill>
        <p:spPr>
          <a:xfrm rot="-5399997">
            <a:off x="-1828923" y="178117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title"/>
          </p:nvPr>
        </p:nvSpPr>
        <p:spPr>
          <a:xfrm>
            <a:off x="721575" y="54077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 amt="75000"/>
          </a:blip>
          <a:srcRect l="26205"/>
          <a:stretch/>
        </p:blipFill>
        <p:spPr>
          <a:xfrm rot="-5400000">
            <a:off x="-785911" y="1937192"/>
            <a:ext cx="3611223" cy="30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 rotWithShape="1">
          <a:blip r:embed="rId3">
            <a:alphaModFix amt="75000"/>
          </a:blip>
          <a:srcRect l="26335" t="537"/>
          <a:stretch/>
        </p:blipFill>
        <p:spPr>
          <a:xfrm rot="5400005">
            <a:off x="6372987" y="109689"/>
            <a:ext cx="3429100" cy="2866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 amt="75000"/>
          </a:blip>
          <a:srcRect l="23664" t="13300"/>
          <a:stretch/>
        </p:blipFill>
        <p:spPr>
          <a:xfrm>
            <a:off x="9525" y="-1562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 amt="75000"/>
          </a:blip>
          <a:srcRect l="21334" t="3883"/>
          <a:stretch/>
        </p:blipFill>
        <p:spPr>
          <a:xfrm rot="-10799995">
            <a:off x="5739700" y="26037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 amt="75000"/>
          </a:blip>
          <a:srcRect l="20357"/>
          <a:stretch/>
        </p:blipFill>
        <p:spPr>
          <a:xfrm rot="5400000">
            <a:off x="4631025" y="510125"/>
            <a:ext cx="5524500" cy="4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 amt="75000"/>
          </a:blip>
          <a:srcRect l="16646" t="537"/>
          <a:stretch/>
        </p:blipFill>
        <p:spPr>
          <a:xfrm rot="-5399997">
            <a:off x="-1058539" y="294014"/>
            <a:ext cx="5654502" cy="417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37000">
              <a:schemeClr val="dk1"/>
            </a:gs>
            <a:gs pos="63000">
              <a:schemeClr val="dk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2475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udiowide"/>
              <a:buNone/>
              <a:defRPr sz="2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2475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6" r:id="rId3"/>
    <p:sldLayoutId id="2147483658" r:id="rId4"/>
    <p:sldLayoutId id="2147483662" r:id="rId5"/>
    <p:sldLayoutId id="2147483669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1727250" y="1228150"/>
            <a:ext cx="5689500" cy="2476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ctrTitle"/>
          </p:nvPr>
        </p:nvSpPr>
        <p:spPr>
          <a:xfrm>
            <a:off x="1606459" y="1327199"/>
            <a:ext cx="5892300" cy="235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Impact Sense- Earthquake Impact Prediction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1"/>
          </p:nvPr>
        </p:nvSpPr>
        <p:spPr>
          <a:xfrm>
            <a:off x="1534168" y="3974006"/>
            <a:ext cx="5892300" cy="4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Vendra Veda Vani</a:t>
            </a:r>
          </a:p>
        </p:txBody>
      </p:sp>
      <p:grpSp>
        <p:nvGrpSpPr>
          <p:cNvPr id="284" name="Google Shape;284;p30"/>
          <p:cNvGrpSpPr/>
          <p:nvPr/>
        </p:nvGrpSpPr>
        <p:grpSpPr>
          <a:xfrm>
            <a:off x="1006807" y="487596"/>
            <a:ext cx="288601" cy="1096693"/>
            <a:chOff x="1006700" y="2603975"/>
            <a:chExt cx="55450" cy="210700"/>
          </a:xfrm>
        </p:grpSpPr>
        <p:sp>
          <p:nvSpPr>
            <p:cNvPr id="285" name="Google Shape;285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30"/>
          <p:cNvGrpSpPr/>
          <p:nvPr/>
        </p:nvGrpSpPr>
        <p:grpSpPr>
          <a:xfrm rot="5400000">
            <a:off x="7769557" y="3906771"/>
            <a:ext cx="288601" cy="1096693"/>
            <a:chOff x="1006700" y="2603975"/>
            <a:chExt cx="55450" cy="210700"/>
          </a:xfrm>
        </p:grpSpPr>
        <p:sp>
          <p:nvSpPr>
            <p:cNvPr id="292" name="Google Shape;292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30"/>
          <p:cNvGrpSpPr/>
          <p:nvPr/>
        </p:nvGrpSpPr>
        <p:grpSpPr>
          <a:xfrm>
            <a:off x="551124" y="3629702"/>
            <a:ext cx="1178637" cy="1096691"/>
            <a:chOff x="827350" y="3629733"/>
            <a:chExt cx="1431600" cy="1332067"/>
          </a:xfrm>
        </p:grpSpPr>
        <p:sp>
          <p:nvSpPr>
            <p:cNvPr id="299" name="Google Shape;29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322602" y="2902809"/>
            <a:ext cx="781224" cy="726909"/>
            <a:chOff x="827350" y="3629733"/>
            <a:chExt cx="1431600" cy="1332067"/>
          </a:xfrm>
        </p:grpSpPr>
        <p:sp>
          <p:nvSpPr>
            <p:cNvPr id="303" name="Google Shape;303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30"/>
          <p:cNvGrpSpPr/>
          <p:nvPr/>
        </p:nvGrpSpPr>
        <p:grpSpPr>
          <a:xfrm>
            <a:off x="1816189" y="4394848"/>
            <a:ext cx="356325" cy="331552"/>
            <a:chOff x="827350" y="3629733"/>
            <a:chExt cx="1431600" cy="1332067"/>
          </a:xfrm>
        </p:grpSpPr>
        <p:sp>
          <p:nvSpPr>
            <p:cNvPr id="307" name="Google Shape;307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7466251" y="219713"/>
            <a:ext cx="895180" cy="832942"/>
            <a:chOff x="827350" y="3629733"/>
            <a:chExt cx="1431600" cy="1332067"/>
          </a:xfrm>
        </p:grpSpPr>
        <p:sp>
          <p:nvSpPr>
            <p:cNvPr id="311" name="Google Shape;311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8131283" y="1065715"/>
            <a:ext cx="598982" cy="557337"/>
            <a:chOff x="827350" y="3629733"/>
            <a:chExt cx="1431600" cy="1332067"/>
          </a:xfrm>
        </p:grpSpPr>
        <p:sp>
          <p:nvSpPr>
            <p:cNvPr id="315" name="Google Shape;315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6901231" y="620669"/>
            <a:ext cx="464268" cy="431989"/>
            <a:chOff x="827350" y="3629733"/>
            <a:chExt cx="1431600" cy="1332067"/>
          </a:xfrm>
        </p:grpSpPr>
        <p:sp>
          <p:nvSpPr>
            <p:cNvPr id="319" name="Google Shape;31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DD29C16D-BC2A-5284-CDD1-5F913CE28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9763" y="266316"/>
            <a:ext cx="4219929" cy="799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"/>
          <p:cNvSpPr/>
          <p:nvPr/>
        </p:nvSpPr>
        <p:spPr>
          <a:xfrm>
            <a:off x="713225" y="510300"/>
            <a:ext cx="7704000" cy="6321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42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grpSp>
        <p:nvGrpSpPr>
          <p:cNvPr id="797" name="Google Shape;797;p42"/>
          <p:cNvGrpSpPr/>
          <p:nvPr/>
        </p:nvGrpSpPr>
        <p:grpSpPr>
          <a:xfrm rot="10800000">
            <a:off x="206982" y="423196"/>
            <a:ext cx="288601" cy="1096693"/>
            <a:chOff x="1006700" y="2603975"/>
            <a:chExt cx="55450" cy="210700"/>
          </a:xfrm>
        </p:grpSpPr>
        <p:sp>
          <p:nvSpPr>
            <p:cNvPr id="798" name="Google Shape;798;p42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2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42"/>
          <p:cNvGrpSpPr/>
          <p:nvPr/>
        </p:nvGrpSpPr>
        <p:grpSpPr>
          <a:xfrm>
            <a:off x="7882402" y="3927185"/>
            <a:ext cx="1096749" cy="1020364"/>
            <a:chOff x="827350" y="3629733"/>
            <a:chExt cx="1431600" cy="1332067"/>
          </a:xfrm>
        </p:grpSpPr>
        <p:sp>
          <p:nvSpPr>
            <p:cNvPr id="805" name="Google Shape;805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42"/>
          <p:cNvGrpSpPr/>
          <p:nvPr/>
        </p:nvGrpSpPr>
        <p:grpSpPr>
          <a:xfrm>
            <a:off x="7771279" y="3271162"/>
            <a:ext cx="510366" cy="474882"/>
            <a:chOff x="827350" y="3629733"/>
            <a:chExt cx="1431600" cy="1332067"/>
          </a:xfrm>
        </p:grpSpPr>
        <p:sp>
          <p:nvSpPr>
            <p:cNvPr id="809" name="Google Shape;809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42"/>
          <p:cNvGrpSpPr/>
          <p:nvPr/>
        </p:nvGrpSpPr>
        <p:grpSpPr>
          <a:xfrm>
            <a:off x="7247377" y="4412793"/>
            <a:ext cx="401134" cy="373245"/>
            <a:chOff x="827350" y="3629733"/>
            <a:chExt cx="1431600" cy="1332067"/>
          </a:xfrm>
        </p:grpSpPr>
        <p:sp>
          <p:nvSpPr>
            <p:cNvPr id="813" name="Google Shape;813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DEDD3-EC69-6128-609C-EEF194F28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1614" y="1293079"/>
            <a:ext cx="75007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Earthquakes cause damage based on intensity and depth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Difficult to predict impact level in advance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Need a system to classify alert levels (Green, Yellow, Orange, Red)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Helps in disaster planning and awareness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800" b="0" dirty="0">
                <a:latin typeface="+mn-lt"/>
              </a:rPr>
              <a:t>Lack of real-time accessible prediction tools for users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Need for a </a:t>
            </a:r>
            <a:r>
              <a:rPr lang="en-US" altLang="en-US" sz="1800" b="0" dirty="0">
                <a:solidFill>
                  <a:schemeClr val="bg1"/>
                </a:solidFill>
                <a:latin typeface="+mn-lt"/>
              </a:rPr>
              <a:t>simple and user-friendly prediction system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"/>
          <p:cNvSpPr/>
          <p:nvPr/>
        </p:nvSpPr>
        <p:spPr>
          <a:xfrm>
            <a:off x="713225" y="510300"/>
            <a:ext cx="7704000" cy="6321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42"/>
          <p:cNvSpPr txBox="1">
            <a:spLocks noGrp="1"/>
          </p:cNvSpPr>
          <p:nvPr>
            <p:ph type="title"/>
          </p:nvPr>
        </p:nvSpPr>
        <p:spPr>
          <a:xfrm>
            <a:off x="71910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Solution</a:t>
            </a:r>
            <a:endParaRPr dirty="0"/>
          </a:p>
        </p:txBody>
      </p:sp>
      <p:grpSp>
        <p:nvGrpSpPr>
          <p:cNvPr id="797" name="Google Shape;797;p42"/>
          <p:cNvGrpSpPr/>
          <p:nvPr/>
        </p:nvGrpSpPr>
        <p:grpSpPr>
          <a:xfrm rot="10800000">
            <a:off x="206982" y="423196"/>
            <a:ext cx="288601" cy="1096693"/>
            <a:chOff x="1006700" y="2603975"/>
            <a:chExt cx="55450" cy="210700"/>
          </a:xfrm>
        </p:grpSpPr>
        <p:sp>
          <p:nvSpPr>
            <p:cNvPr id="798" name="Google Shape;798;p42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2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42"/>
          <p:cNvGrpSpPr/>
          <p:nvPr/>
        </p:nvGrpSpPr>
        <p:grpSpPr>
          <a:xfrm>
            <a:off x="7882402" y="3927185"/>
            <a:ext cx="1096749" cy="1020364"/>
            <a:chOff x="827350" y="3629733"/>
            <a:chExt cx="1431600" cy="1332067"/>
          </a:xfrm>
        </p:grpSpPr>
        <p:sp>
          <p:nvSpPr>
            <p:cNvPr id="805" name="Google Shape;805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42"/>
          <p:cNvGrpSpPr/>
          <p:nvPr/>
        </p:nvGrpSpPr>
        <p:grpSpPr>
          <a:xfrm>
            <a:off x="7771279" y="3271162"/>
            <a:ext cx="510366" cy="474882"/>
            <a:chOff x="827350" y="3629733"/>
            <a:chExt cx="1431600" cy="1332067"/>
          </a:xfrm>
        </p:grpSpPr>
        <p:sp>
          <p:nvSpPr>
            <p:cNvPr id="809" name="Google Shape;809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42"/>
          <p:cNvGrpSpPr/>
          <p:nvPr/>
        </p:nvGrpSpPr>
        <p:grpSpPr>
          <a:xfrm>
            <a:off x="7247377" y="4412793"/>
            <a:ext cx="401134" cy="373245"/>
            <a:chOff x="827350" y="3629733"/>
            <a:chExt cx="1431600" cy="1332067"/>
          </a:xfrm>
        </p:grpSpPr>
        <p:sp>
          <p:nvSpPr>
            <p:cNvPr id="813" name="Google Shape;813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DEDD3-EC69-6128-609C-EEF194F28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2355" y="1205033"/>
            <a:ext cx="7514792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Develop a web-based system for earthquake prediction and alert classification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Provide a simple user interface for entering seismic parameters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Use Machine Learning (Random Forest model) for prediction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Process input data using preprocessing techniques (scaling, normalization)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Classify earthquake risk into alert levels (Green, Yellow, Orange, Red)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Display real-time prediction results to the user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7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55"/>
          <p:cNvSpPr/>
          <p:nvPr/>
        </p:nvSpPr>
        <p:spPr>
          <a:xfrm>
            <a:off x="4381500" y="871388"/>
            <a:ext cx="4038600" cy="9030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55"/>
          <p:cNvSpPr txBox="1">
            <a:spLocks noGrp="1"/>
          </p:cNvSpPr>
          <p:nvPr>
            <p:ph type="title"/>
          </p:nvPr>
        </p:nvSpPr>
        <p:spPr>
          <a:xfrm>
            <a:off x="4381500" y="823590"/>
            <a:ext cx="4038600" cy="8274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TechStack used</a:t>
            </a:r>
            <a:endParaRPr dirty="0"/>
          </a:p>
        </p:txBody>
      </p:sp>
      <p:sp>
        <p:nvSpPr>
          <p:cNvPr id="1345" name="Google Shape;1345;p55"/>
          <p:cNvSpPr txBox="1">
            <a:spLocks noGrp="1"/>
          </p:cNvSpPr>
          <p:nvPr>
            <p:ph type="body" idx="1"/>
          </p:nvPr>
        </p:nvSpPr>
        <p:spPr>
          <a:xfrm>
            <a:off x="4421668" y="1550946"/>
            <a:ext cx="4038600" cy="2898677"/>
          </a:xfrm>
          <a:prstGeom prst="rect">
            <a:avLst/>
          </a:prstGeom>
        </p:spPr>
        <p:txBody>
          <a:bodyPr spcFirstLastPara="1" wrap="square" lIns="91425" tIns="91425" rIns="2743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HTML, CSS, JavaScript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Backend: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Flask (Python)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Random Forest Algorithm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NumPy, Pandas, Scikit-learn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Processing: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scaling and preprocessing techniques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Localhost / Web Server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pic>
        <p:nvPicPr>
          <p:cNvPr id="1346" name="Google Shape;1346;p55"/>
          <p:cNvPicPr preferRelativeResize="0"/>
          <p:nvPr/>
        </p:nvPicPr>
        <p:blipFill rotWithShape="1">
          <a:blip r:embed="rId3">
            <a:alphaModFix amt="75000"/>
          </a:blip>
          <a:srcRect l="17878" t="14008"/>
          <a:stretch/>
        </p:blipFill>
        <p:spPr>
          <a:xfrm rot="-5399996">
            <a:off x="-885196" y="2363389"/>
            <a:ext cx="2978831" cy="15140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7" name="Google Shape;1347;p55"/>
          <p:cNvGrpSpPr/>
          <p:nvPr/>
        </p:nvGrpSpPr>
        <p:grpSpPr>
          <a:xfrm>
            <a:off x="8637582" y="3602221"/>
            <a:ext cx="288601" cy="1096693"/>
            <a:chOff x="1006700" y="2603975"/>
            <a:chExt cx="55450" cy="210700"/>
          </a:xfrm>
        </p:grpSpPr>
        <p:sp>
          <p:nvSpPr>
            <p:cNvPr id="1348" name="Google Shape;1348;p55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55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55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5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5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5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55"/>
          <p:cNvGrpSpPr/>
          <p:nvPr/>
        </p:nvGrpSpPr>
        <p:grpSpPr>
          <a:xfrm>
            <a:off x="332772" y="288838"/>
            <a:ext cx="760896" cy="707727"/>
            <a:chOff x="827350" y="3629733"/>
            <a:chExt cx="1431600" cy="1332067"/>
          </a:xfrm>
        </p:grpSpPr>
        <p:sp>
          <p:nvSpPr>
            <p:cNvPr id="1356" name="Google Shape;1356;p55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55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5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" name="Google Shape;1359;p55"/>
          <p:cNvGrpSpPr/>
          <p:nvPr/>
        </p:nvGrpSpPr>
        <p:grpSpPr>
          <a:xfrm>
            <a:off x="1205430" y="449959"/>
            <a:ext cx="527545" cy="490734"/>
            <a:chOff x="827350" y="3629733"/>
            <a:chExt cx="1431600" cy="1332067"/>
          </a:xfrm>
        </p:grpSpPr>
        <p:sp>
          <p:nvSpPr>
            <p:cNvPr id="1360" name="Google Shape;1360;p55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5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5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3" name="Google Shape;1363;p55"/>
          <p:cNvGrpSpPr/>
          <p:nvPr/>
        </p:nvGrpSpPr>
        <p:grpSpPr>
          <a:xfrm>
            <a:off x="543188" y="1131212"/>
            <a:ext cx="412158" cy="383369"/>
            <a:chOff x="827350" y="3629733"/>
            <a:chExt cx="1431600" cy="1332067"/>
          </a:xfrm>
        </p:grpSpPr>
        <p:sp>
          <p:nvSpPr>
            <p:cNvPr id="1364" name="Google Shape;1364;p55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5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5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81" name="Picture 9" descr="What is a tech stack? Technology stack in a nutshell - DAC.digital">
            <a:extLst>
              <a:ext uri="{FF2B5EF4-FFF2-40B4-BE49-F238E27FC236}">
                <a16:creationId xmlns:a16="http://schemas.microsoft.com/office/drawing/2014/main" id="{181712CE-FFB0-FE17-683F-508EE2A25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35" y="1068838"/>
            <a:ext cx="3802911" cy="338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F552-3E75-D930-8EE7-E4F4DB52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30" y="152947"/>
            <a:ext cx="7704000" cy="572700"/>
          </a:xfrm>
        </p:spPr>
        <p:txBody>
          <a:bodyPr/>
          <a:lstStyle/>
          <a:p>
            <a:r>
              <a:rPr lang="en-US" dirty="0"/>
              <a:t>Work Flow Diagram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D73B89-1261-1065-B8E4-71D656B7271C}"/>
              </a:ext>
            </a:extLst>
          </p:cNvPr>
          <p:cNvSpPr/>
          <p:nvPr/>
        </p:nvSpPr>
        <p:spPr>
          <a:xfrm>
            <a:off x="2912533" y="887825"/>
            <a:ext cx="3139891" cy="2935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D0B1B2C-13BA-56E4-E483-F55C284542D8}"/>
              </a:ext>
            </a:extLst>
          </p:cNvPr>
          <p:cNvSpPr/>
          <p:nvPr/>
        </p:nvSpPr>
        <p:spPr>
          <a:xfrm>
            <a:off x="4419597" y="1248293"/>
            <a:ext cx="169333" cy="1933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EB5816-BC27-9D11-0D06-EEDDBFEABEFC}"/>
              </a:ext>
            </a:extLst>
          </p:cNvPr>
          <p:cNvSpPr/>
          <p:nvPr/>
        </p:nvSpPr>
        <p:spPr>
          <a:xfrm>
            <a:off x="2949567" y="1488323"/>
            <a:ext cx="3059289" cy="2935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801AAAF-CEF9-99DF-0ABC-BB065AB4F95A}"/>
              </a:ext>
            </a:extLst>
          </p:cNvPr>
          <p:cNvSpPr/>
          <p:nvPr/>
        </p:nvSpPr>
        <p:spPr>
          <a:xfrm>
            <a:off x="4419597" y="1873844"/>
            <a:ext cx="169333" cy="1933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2C3EB-FAB3-C582-CB4B-C1D50D7DA70C}"/>
              </a:ext>
            </a:extLst>
          </p:cNvPr>
          <p:cNvSpPr/>
          <p:nvPr/>
        </p:nvSpPr>
        <p:spPr>
          <a:xfrm>
            <a:off x="2949567" y="2133988"/>
            <a:ext cx="3059289" cy="2935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LOGIN PAGE/DIRECT ACCESS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E23D813-8062-E4B6-A9DD-F2531704805E}"/>
              </a:ext>
            </a:extLst>
          </p:cNvPr>
          <p:cNvSpPr/>
          <p:nvPr/>
        </p:nvSpPr>
        <p:spPr>
          <a:xfrm>
            <a:off x="4402666" y="2500987"/>
            <a:ext cx="169333" cy="1933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5EDF9-CAA3-4BCC-104F-7483990B1992}"/>
              </a:ext>
            </a:extLst>
          </p:cNvPr>
          <p:cNvSpPr/>
          <p:nvPr/>
        </p:nvSpPr>
        <p:spPr>
          <a:xfrm>
            <a:off x="2902595" y="2727748"/>
            <a:ext cx="3034004" cy="2935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PREDICTION PAGE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8B5A5A5-B871-0723-F4BE-72F8066A9421}"/>
              </a:ext>
            </a:extLst>
          </p:cNvPr>
          <p:cNvSpPr/>
          <p:nvPr/>
        </p:nvSpPr>
        <p:spPr>
          <a:xfrm>
            <a:off x="4394544" y="3100443"/>
            <a:ext cx="161207" cy="1610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42D8F7-2CB2-FF21-7D41-4AD0F53A83E3}"/>
              </a:ext>
            </a:extLst>
          </p:cNvPr>
          <p:cNvSpPr/>
          <p:nvPr/>
        </p:nvSpPr>
        <p:spPr>
          <a:xfrm>
            <a:off x="2893782" y="3328246"/>
            <a:ext cx="3096324" cy="2935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97D4BB-F22C-1104-71AB-B03D9283D573}"/>
              </a:ext>
            </a:extLst>
          </p:cNvPr>
          <p:cNvSpPr/>
          <p:nvPr/>
        </p:nvSpPr>
        <p:spPr>
          <a:xfrm>
            <a:off x="2912533" y="3928591"/>
            <a:ext cx="3096323" cy="2935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PREDICTION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D4AF6C2-2DAC-D903-0F5A-EC7E677D99C3}"/>
              </a:ext>
            </a:extLst>
          </p:cNvPr>
          <p:cNvSpPr/>
          <p:nvPr/>
        </p:nvSpPr>
        <p:spPr>
          <a:xfrm>
            <a:off x="4394544" y="3701830"/>
            <a:ext cx="169333" cy="1933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F2526D-D6E3-1791-9DB2-F7D135E22FC3}"/>
              </a:ext>
            </a:extLst>
          </p:cNvPr>
          <p:cNvSpPr/>
          <p:nvPr/>
        </p:nvSpPr>
        <p:spPr>
          <a:xfrm>
            <a:off x="2893783" y="4571596"/>
            <a:ext cx="3096323" cy="2935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RESULT DISPLAY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8556DE31-330B-93E6-36CE-EE16677E67D0}"/>
              </a:ext>
            </a:extLst>
          </p:cNvPr>
          <p:cNvSpPr/>
          <p:nvPr/>
        </p:nvSpPr>
        <p:spPr>
          <a:xfrm>
            <a:off x="4419597" y="4311452"/>
            <a:ext cx="169333" cy="1933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F1D0C8-9FB2-F7FB-71D5-576F9087D6A7}"/>
              </a:ext>
            </a:extLst>
          </p:cNvPr>
          <p:cNvSpPr/>
          <p:nvPr/>
        </p:nvSpPr>
        <p:spPr>
          <a:xfrm>
            <a:off x="756745" y="136634"/>
            <a:ext cx="7693572" cy="57806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3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EA867-CB9D-EDA2-1FB7-405C705EE75A}"/>
              </a:ext>
            </a:extLst>
          </p:cNvPr>
          <p:cNvSpPr txBox="1"/>
          <p:nvPr/>
        </p:nvSpPr>
        <p:spPr>
          <a:xfrm>
            <a:off x="283779" y="332419"/>
            <a:ext cx="4866289" cy="4478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Feasibility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Uses readily available earthquake datasets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Implementation with standard tools (Python, Flask, ML libraries)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Low computational requirements for prediction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Easy to develop and test in a local environment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Viability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Can be deployed as a web application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Scalable for larger datasets and real-time data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Useful for awareness and early risk indication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Cost-effective solution with open-source technologies</a:t>
            </a:r>
          </a:p>
        </p:txBody>
      </p:sp>
      <p:pic>
        <p:nvPicPr>
          <p:cNvPr id="4098" name="Picture 2" descr="Feasibility Study Stock Illustrations – 89 Feasibility Study ...">
            <a:extLst>
              <a:ext uri="{FF2B5EF4-FFF2-40B4-BE49-F238E27FC236}">
                <a16:creationId xmlns:a16="http://schemas.microsoft.com/office/drawing/2014/main" id="{C78C52E1-1248-3AEC-C19B-77EF3CD5B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966" y="672663"/>
            <a:ext cx="3899337" cy="383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3D26E5-D942-A438-944C-1A160DCB323A}"/>
              </a:ext>
            </a:extLst>
          </p:cNvPr>
          <p:cNvSpPr/>
          <p:nvPr/>
        </p:nvSpPr>
        <p:spPr>
          <a:xfrm>
            <a:off x="283779" y="409903"/>
            <a:ext cx="4572000" cy="37837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08BC4-3DBA-374D-FEAF-8D21B7247079}"/>
              </a:ext>
            </a:extLst>
          </p:cNvPr>
          <p:cNvSpPr/>
          <p:nvPr/>
        </p:nvSpPr>
        <p:spPr>
          <a:xfrm>
            <a:off x="357352" y="2571750"/>
            <a:ext cx="4572000" cy="37837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2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"/>
          <p:cNvSpPr/>
          <p:nvPr/>
        </p:nvSpPr>
        <p:spPr>
          <a:xfrm>
            <a:off x="713225" y="510300"/>
            <a:ext cx="7704000" cy="6321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42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Impacts and Benefits</a:t>
            </a:r>
            <a:endParaRPr dirty="0"/>
          </a:p>
        </p:txBody>
      </p:sp>
      <p:grpSp>
        <p:nvGrpSpPr>
          <p:cNvPr id="797" name="Google Shape;797;p42"/>
          <p:cNvGrpSpPr/>
          <p:nvPr/>
        </p:nvGrpSpPr>
        <p:grpSpPr>
          <a:xfrm rot="10800000">
            <a:off x="206982" y="423196"/>
            <a:ext cx="288601" cy="1096693"/>
            <a:chOff x="1006700" y="2603975"/>
            <a:chExt cx="55450" cy="210700"/>
          </a:xfrm>
        </p:grpSpPr>
        <p:sp>
          <p:nvSpPr>
            <p:cNvPr id="798" name="Google Shape;798;p42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2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42"/>
          <p:cNvGrpSpPr/>
          <p:nvPr/>
        </p:nvGrpSpPr>
        <p:grpSpPr>
          <a:xfrm>
            <a:off x="7882402" y="3927185"/>
            <a:ext cx="1096749" cy="1020364"/>
            <a:chOff x="827350" y="3629733"/>
            <a:chExt cx="1431600" cy="1332067"/>
          </a:xfrm>
        </p:grpSpPr>
        <p:sp>
          <p:nvSpPr>
            <p:cNvPr id="805" name="Google Shape;805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42"/>
          <p:cNvGrpSpPr/>
          <p:nvPr/>
        </p:nvGrpSpPr>
        <p:grpSpPr>
          <a:xfrm>
            <a:off x="7771279" y="3271162"/>
            <a:ext cx="510366" cy="474882"/>
            <a:chOff x="827350" y="3629733"/>
            <a:chExt cx="1431600" cy="1332067"/>
          </a:xfrm>
        </p:grpSpPr>
        <p:sp>
          <p:nvSpPr>
            <p:cNvPr id="809" name="Google Shape;809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42"/>
          <p:cNvGrpSpPr/>
          <p:nvPr/>
        </p:nvGrpSpPr>
        <p:grpSpPr>
          <a:xfrm>
            <a:off x="7247377" y="4412793"/>
            <a:ext cx="401134" cy="373245"/>
            <a:chOff x="827350" y="3629733"/>
            <a:chExt cx="1431600" cy="1332067"/>
          </a:xfrm>
        </p:grpSpPr>
        <p:sp>
          <p:nvSpPr>
            <p:cNvPr id="813" name="Google Shape;813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DEDD3-EC69-6128-609C-EEF194F28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0490" y="1286170"/>
            <a:ext cx="755670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Helps in early disaster awareness and preparedness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Provides quick prediction of earthquake alert levels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Supports decision-making for emergency response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Easy-to-use interface for users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Improves understanding of earthquake impact factors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Cost-effective solution using open-source technologies </a:t>
            </a:r>
          </a:p>
        </p:txBody>
      </p:sp>
    </p:spTree>
    <p:extLst>
      <p:ext uri="{BB962C8B-B14F-4D97-AF65-F5344CB8AC3E}">
        <p14:creationId xmlns:p14="http://schemas.microsoft.com/office/powerpoint/2010/main" val="307416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"/>
          <p:cNvSpPr/>
          <p:nvPr/>
        </p:nvSpPr>
        <p:spPr>
          <a:xfrm>
            <a:off x="713225" y="510300"/>
            <a:ext cx="7704000" cy="6321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42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grpSp>
        <p:nvGrpSpPr>
          <p:cNvPr id="797" name="Google Shape;797;p42"/>
          <p:cNvGrpSpPr/>
          <p:nvPr/>
        </p:nvGrpSpPr>
        <p:grpSpPr>
          <a:xfrm rot="10800000">
            <a:off x="206982" y="423196"/>
            <a:ext cx="288601" cy="1096693"/>
            <a:chOff x="1006700" y="2603975"/>
            <a:chExt cx="55450" cy="210700"/>
          </a:xfrm>
        </p:grpSpPr>
        <p:sp>
          <p:nvSpPr>
            <p:cNvPr id="798" name="Google Shape;798;p42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2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42"/>
          <p:cNvGrpSpPr/>
          <p:nvPr/>
        </p:nvGrpSpPr>
        <p:grpSpPr>
          <a:xfrm>
            <a:off x="7882402" y="3927185"/>
            <a:ext cx="1096749" cy="1020364"/>
            <a:chOff x="827350" y="3629733"/>
            <a:chExt cx="1431600" cy="1332067"/>
          </a:xfrm>
        </p:grpSpPr>
        <p:sp>
          <p:nvSpPr>
            <p:cNvPr id="805" name="Google Shape;805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42"/>
          <p:cNvGrpSpPr/>
          <p:nvPr/>
        </p:nvGrpSpPr>
        <p:grpSpPr>
          <a:xfrm>
            <a:off x="7771279" y="3271162"/>
            <a:ext cx="510366" cy="474882"/>
            <a:chOff x="827350" y="3629733"/>
            <a:chExt cx="1431600" cy="1332067"/>
          </a:xfrm>
        </p:grpSpPr>
        <p:sp>
          <p:nvSpPr>
            <p:cNvPr id="809" name="Google Shape;809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42"/>
          <p:cNvGrpSpPr/>
          <p:nvPr/>
        </p:nvGrpSpPr>
        <p:grpSpPr>
          <a:xfrm>
            <a:off x="7247377" y="4412793"/>
            <a:ext cx="401134" cy="373245"/>
            <a:chOff x="827350" y="3629733"/>
            <a:chExt cx="1431600" cy="1332067"/>
          </a:xfrm>
        </p:grpSpPr>
        <p:sp>
          <p:nvSpPr>
            <p:cNvPr id="813" name="Google Shape;813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DEDD3-EC69-6128-609C-EEF194F28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11266" y="1231272"/>
            <a:ext cx="540553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Successfully developed an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earthquake alert prediction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model predicts alert levels based on key parameters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Provides quick and reliable results through a simple UI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Helps in improving disaster preparedness and awareness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 be enhanced further with real-time data integration </a:t>
            </a:r>
            <a:endParaRPr lang="en-US" altLang="en-US" sz="1600" b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Website: https://impactsense-app-gtvq.onrender.com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5" descr="18,781 Conclusion Stock Photos - Free &amp; Royalty-Free Stock Photos from  Dreamstime">
            <a:extLst>
              <a:ext uri="{FF2B5EF4-FFF2-40B4-BE49-F238E27FC236}">
                <a16:creationId xmlns:a16="http://schemas.microsoft.com/office/drawing/2014/main" id="{AD4AC8E9-95E2-1F57-0DA5-6A28EDEC6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52" y="1364520"/>
            <a:ext cx="3117114" cy="348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13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39"/>
          <p:cNvPicPr preferRelativeResize="0"/>
          <p:nvPr/>
        </p:nvPicPr>
        <p:blipFill rotWithShape="1">
          <a:blip r:embed="rId4">
            <a:alphaModFix amt="75000"/>
          </a:blip>
          <a:srcRect l="11848" t="10080"/>
          <a:stretch/>
        </p:blipFill>
        <p:spPr>
          <a:xfrm>
            <a:off x="12290" y="-77852"/>
            <a:ext cx="6008724" cy="379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9"/>
          <p:cNvPicPr preferRelativeResize="0"/>
          <p:nvPr/>
        </p:nvPicPr>
        <p:blipFill rotWithShape="1">
          <a:blip r:embed="rId4">
            <a:alphaModFix amt="75000"/>
          </a:blip>
          <a:srcRect l="15261" t="6068"/>
          <a:stretch/>
        </p:blipFill>
        <p:spPr>
          <a:xfrm rot="-10799997">
            <a:off x="3969156" y="1481707"/>
            <a:ext cx="5162552" cy="3543296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9"/>
          <p:cNvSpPr txBox="1">
            <a:spLocks noGrp="1"/>
          </p:cNvSpPr>
          <p:nvPr>
            <p:ph type="title"/>
          </p:nvPr>
        </p:nvSpPr>
        <p:spPr>
          <a:xfrm rot="300">
            <a:off x="749191" y="2732534"/>
            <a:ext cx="5611193" cy="23118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Thank </a:t>
            </a:r>
            <a:br>
              <a:rPr lang="en" sz="6000" dirty="0"/>
            </a:br>
            <a:r>
              <a:rPr lang="en" sz="6000" dirty="0"/>
              <a:t>You</a:t>
            </a:r>
            <a:br>
              <a:rPr lang="en" dirty="0"/>
            </a:br>
            <a:endParaRPr dirty="0"/>
          </a:p>
        </p:txBody>
      </p:sp>
      <p:grpSp>
        <p:nvGrpSpPr>
          <p:cNvPr id="667" name="Google Shape;667;p39"/>
          <p:cNvGrpSpPr/>
          <p:nvPr/>
        </p:nvGrpSpPr>
        <p:grpSpPr>
          <a:xfrm rot="5400000">
            <a:off x="8054157" y="-219079"/>
            <a:ext cx="288601" cy="1096693"/>
            <a:chOff x="1006700" y="2603975"/>
            <a:chExt cx="55450" cy="210700"/>
          </a:xfrm>
        </p:grpSpPr>
        <p:sp>
          <p:nvSpPr>
            <p:cNvPr id="668" name="Google Shape;668;p39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674;p39"/>
          <p:cNvGrpSpPr/>
          <p:nvPr/>
        </p:nvGrpSpPr>
        <p:grpSpPr>
          <a:xfrm>
            <a:off x="8020620" y="875122"/>
            <a:ext cx="820307" cy="763275"/>
            <a:chOff x="827350" y="3629733"/>
            <a:chExt cx="1431600" cy="1332067"/>
          </a:xfrm>
        </p:grpSpPr>
        <p:sp>
          <p:nvSpPr>
            <p:cNvPr id="675" name="Google Shape;675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39"/>
          <p:cNvGrpSpPr/>
          <p:nvPr/>
        </p:nvGrpSpPr>
        <p:grpSpPr>
          <a:xfrm>
            <a:off x="1970334" y="1694339"/>
            <a:ext cx="932831" cy="867975"/>
            <a:chOff x="827350" y="3629733"/>
            <a:chExt cx="1431600" cy="1332067"/>
          </a:xfrm>
        </p:grpSpPr>
        <p:sp>
          <p:nvSpPr>
            <p:cNvPr id="679" name="Google Shape;679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39"/>
          <p:cNvGrpSpPr/>
          <p:nvPr/>
        </p:nvGrpSpPr>
        <p:grpSpPr>
          <a:xfrm>
            <a:off x="1970321" y="961841"/>
            <a:ext cx="633913" cy="589839"/>
            <a:chOff x="827350" y="3629733"/>
            <a:chExt cx="1431600" cy="1332067"/>
          </a:xfrm>
        </p:grpSpPr>
        <p:sp>
          <p:nvSpPr>
            <p:cNvPr id="683" name="Google Shape;683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39"/>
          <p:cNvGrpSpPr/>
          <p:nvPr/>
        </p:nvGrpSpPr>
        <p:grpSpPr>
          <a:xfrm>
            <a:off x="1427427" y="1480329"/>
            <a:ext cx="487174" cy="453302"/>
            <a:chOff x="827350" y="3629733"/>
            <a:chExt cx="1431600" cy="1332067"/>
          </a:xfrm>
        </p:grpSpPr>
        <p:sp>
          <p:nvSpPr>
            <p:cNvPr id="687" name="Google Shape;687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yber-Futuristic AI Technology Thesis Defense by Slidesgo">
  <a:themeElements>
    <a:clrScheme name="Simple Light">
      <a:dk1>
        <a:srgbClr val="031126"/>
      </a:dk1>
      <a:lt1>
        <a:srgbClr val="FFFFFF"/>
      </a:lt1>
      <a:dk2>
        <a:srgbClr val="10355F"/>
      </a:dk2>
      <a:lt2>
        <a:srgbClr val="3B8794"/>
      </a:lt2>
      <a:accent1>
        <a:srgbClr val="51AF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353</Words>
  <Application>Microsoft Office PowerPoint</Application>
  <PresentationFormat>On-screen Show (16:9)</PresentationFormat>
  <Paragraphs>61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Karla</vt:lpstr>
      <vt:lpstr>Arial</vt:lpstr>
      <vt:lpstr>Wingdings</vt:lpstr>
      <vt:lpstr>Audiowide</vt:lpstr>
      <vt:lpstr>Cyber-Futuristic AI Technology Thesis Defense by Slidesgo</vt:lpstr>
      <vt:lpstr>Impact Sense- Earthquake Impact Prediction</vt:lpstr>
      <vt:lpstr>Problem Statement</vt:lpstr>
      <vt:lpstr>Proposed Solution</vt:lpstr>
      <vt:lpstr>TechStack used</vt:lpstr>
      <vt:lpstr>Work Flow Diagram</vt:lpstr>
      <vt:lpstr>PowerPoint Presentation</vt:lpstr>
      <vt:lpstr>Impacts and Benefits</vt:lpstr>
      <vt:lpstr>Conclusion</vt:lpstr>
      <vt:lpstr>Thank 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Sense- Earthquake Impact Prediction</dc:title>
  <cp:lastModifiedBy>hemanthkumar vendra</cp:lastModifiedBy>
  <cp:revision>8</cp:revision>
  <dcterms:modified xsi:type="dcterms:W3CDTF">2026-04-09T16:39:23Z</dcterms:modified>
</cp:coreProperties>
</file>